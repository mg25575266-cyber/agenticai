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461" r:id="rId2"/>
    <p:sldId id="462" r:id="rId3"/>
    <p:sldId id="506" r:id="rId4"/>
    <p:sldId id="464" r:id="rId5"/>
    <p:sldId id="480" r:id="rId6"/>
    <p:sldId id="481" r:id="rId7"/>
    <p:sldId id="465" r:id="rId8"/>
    <p:sldId id="423" r:id="rId9"/>
    <p:sldId id="424" r:id="rId10"/>
    <p:sldId id="482" r:id="rId11"/>
    <p:sldId id="502" r:id="rId12"/>
    <p:sldId id="504" r:id="rId13"/>
    <p:sldId id="505" r:id="rId14"/>
    <p:sldId id="503" r:id="rId15"/>
    <p:sldId id="686" r:id="rId16"/>
    <p:sldId id="648" r:id="rId17"/>
    <p:sldId id="508" r:id="rId18"/>
    <p:sldId id="509" r:id="rId19"/>
    <p:sldId id="510" r:id="rId20"/>
    <p:sldId id="511" r:id="rId21"/>
    <p:sldId id="687" r:id="rId22"/>
    <p:sldId id="688" r:id="rId23"/>
    <p:sldId id="630" r:id="rId24"/>
    <p:sldId id="704" r:id="rId25"/>
    <p:sldId id="705" r:id="rId26"/>
    <p:sldId id="70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6B05E-5FCA-40A7-9267-101895E9507F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635DC-9CC0-4B98-8665-C917B9C66C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68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3FE73-CC94-4F23-B51B-5E3E293A6B9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087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0EEB6-6D9B-D798-9B50-B6F25C79F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E1C41-457B-BECA-A596-9D68E5CC0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E8A1F-FC48-5F9E-D233-AEA1FDF2F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620C-0B6E-46A5-84C2-F899A90491EE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EFC83-4705-112F-1212-A3772853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9CDE1-1799-A400-3C08-D69EE7D88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CD82-0E98-4AAB-99B7-88432D087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729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19C1-F496-360B-F9CD-B5D31CC18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65045-4E2D-891F-7B32-215DAA8AA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030B7-D96D-54B6-C2E8-D6EB815DD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620C-0B6E-46A5-84C2-F899A90491EE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27D65-FC98-57E6-A882-648FFBD3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D1EE-4FC6-DCE9-115B-322E36B3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CD82-0E98-4AAB-99B7-88432D087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880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B64F0-9C4D-CC0E-45E4-427F6B0EE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CAEA4-6D07-563A-12DB-244832377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581DB-26CA-D5CF-FBAF-4A8B9622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620C-0B6E-46A5-84C2-F899A90491EE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A64BE-7CAA-D8A0-7930-6A341707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62023-CA5C-F37D-AB75-7D836DD6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CD82-0E98-4AAB-99B7-88432D087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1654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B488F-C4B6-C5D8-EDCB-7F5C92C3F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7FE83-60AB-0F74-B1DE-42F3A4E6E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BF810-5A41-CB45-9E3F-43EB0C7B7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A5D6C-1CA6-97B3-397D-D3F2981C1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620C-0B6E-46A5-84C2-F899A90491EE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EF892-F0CB-96C7-DCE8-294D0BA5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68C06-47C5-9A4C-B118-6C0ADF815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CD82-0E98-4AAB-99B7-88432D087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302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C1D9-1E2E-FBEE-8160-049A48EAC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A9C05-2249-570B-5B42-3C2960E44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5EA79-CCC0-929A-A99E-0A9550579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7A4B4-6553-BC91-003F-3AE5DFFDB4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A347E-B890-05EE-7E7F-18612A73E8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82480-FAA3-AA64-B801-91A94D7AA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620C-0B6E-46A5-84C2-F899A90491EE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368924-64AC-0D56-4F77-4A91E75D8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ACB16-7433-2065-083E-71FF317A9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CD82-0E98-4AAB-99B7-88432D087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069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76FD-B82C-2C0C-FFB9-CF1C0D8E3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265A89-C8F0-AD5D-EEDB-AF40E4C79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620C-0B6E-46A5-84C2-F899A90491EE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18AE71-D47D-81F9-7E2E-D5D07E117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6E703-CC6A-9FD4-69E1-765AE98E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CD82-0E98-4AAB-99B7-88432D087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021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50D7A5-FD39-F975-6415-EFBC176B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620C-0B6E-46A5-84C2-F899A90491EE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F82313-3515-BDBB-9A37-77171FB97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700EA-770A-5CD5-0666-8A7B1B0BB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CD82-0E98-4AAB-99B7-88432D087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10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9277-1048-1848-E687-35B43822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F1A5C-30C0-B349-44B8-00D7ABC69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6985D-DFD8-52B6-5CD4-F959E8FBE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4DA01-CB96-EDA7-65B4-4CD20E141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620C-0B6E-46A5-84C2-F899A90491EE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95F16-CDBE-7DEE-9BCD-0FF482F33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79CD6-0CAE-B8EE-96A5-94C8B2C2D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CD82-0E98-4AAB-99B7-88432D087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87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3B35A-E152-6D49-AC8D-9E9AADF4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C583D8-24F9-CDB5-696C-B4B368C131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690F-6A89-9E20-FDC9-AD33EC536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D42F0-8920-1FA5-2F94-6A2043EA5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620C-0B6E-46A5-84C2-F899A90491EE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1EC65-ABEE-E433-4399-A71E0456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988DE-FB3D-6DCE-3643-C180D35E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CD82-0E98-4AAB-99B7-88432D087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87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A2346-1BD2-C74D-6DD2-C79337E6E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B061D-3C40-FC70-A38C-8573495D1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BEBB4-DB53-5D67-02F4-ACB4AF589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620C-0B6E-46A5-84C2-F899A90491EE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414B2-4BD6-110B-69F6-2AC8373C6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E8A72-562A-1018-5598-29502E1E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CD82-0E98-4AAB-99B7-88432D087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0309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C2C852-DF2B-586A-ADB3-9E5AE1F161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C6A5F-C533-E5E7-D32B-71C7A32F2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6AD1E-62B3-380F-ADD7-7069BABDD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620C-0B6E-46A5-84C2-F899A90491EE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04F0C-AB1B-8840-D570-195ED3ACE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ED37E-2D84-5C6A-0288-008F90228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CD82-0E98-4AAB-99B7-88432D087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92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8C8A8-8C45-396A-25BF-3AB9D194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B1376-5A02-C664-E010-6E3B00FDD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4E614-4E59-84B2-4267-CC533808E4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5620C-0B6E-46A5-84C2-F899A90491EE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C1850-F82B-4114-BDA2-F37753D986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E0C7C-2D41-C63C-61C9-9CAC26823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7CD82-0E98-4AAB-99B7-88432D087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81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svgsilh.com/image/151791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svg.org/simple-keyboard-on-color-background-vector-illustration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pixabay.com/id/vectors/database-penyimpanan-data-silinder-149760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kreeshrajani/3k-conversations-dataset-for-chatbot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bitext/training-dataset-for-chatbotsvirtual-assistant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0BDB25-DAA8-E930-7711-86B19C4D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2) OpenAI Agents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A46AC-CE4C-1453-27FA-111EF7D70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031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7AA3C1-5A66-87CA-F078-914CF7AA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Agents API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DF3C67-034A-5F49-9486-64AC7BCA7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Code: C:\code\agenticai\2_openai_agents\2_1_openai_agent.py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4E51A7-D37E-C8EC-39E8-DAFF87769771}"/>
              </a:ext>
            </a:extLst>
          </p:cNvPr>
          <p:cNvGraphicFramePr>
            <a:graphicFrameLocks noGrp="1"/>
          </p:cNvGraphicFramePr>
          <p:nvPr/>
        </p:nvGraphicFramePr>
        <p:xfrm>
          <a:off x="963260" y="1481503"/>
          <a:ext cx="10515599" cy="4224428"/>
        </p:xfrm>
        <a:graphic>
          <a:graphicData uri="http://schemas.openxmlformats.org/drawingml/2006/table">
            <a:tbl>
              <a:tblPr/>
              <a:tblGrid>
                <a:gridCol w="2452241">
                  <a:extLst>
                    <a:ext uri="{9D8B030D-6E8A-4147-A177-3AD203B41FA5}">
                      <a16:colId xmlns:a16="http://schemas.microsoft.com/office/drawing/2014/main" val="4182698781"/>
                    </a:ext>
                  </a:extLst>
                </a:gridCol>
                <a:gridCol w="8063358">
                  <a:extLst>
                    <a:ext uri="{9D8B030D-6E8A-4147-A177-3AD203B41FA5}">
                      <a16:colId xmlns:a16="http://schemas.microsoft.com/office/drawing/2014/main" val="2641310142"/>
                    </a:ext>
                  </a:extLst>
                </a:gridCol>
              </a:tblGrid>
              <a:tr h="2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Aspect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Description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313008"/>
                  </a:ext>
                </a:extLst>
              </a:tr>
              <a:tr h="854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Official Definition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“</a:t>
                      </a:r>
                      <a:r>
                        <a:rPr lang="en-US" sz="1500" b="1" dirty="0"/>
                        <a:t>Agents represent systems that intelligently accomplish tasks, ranging from executing simple workflows to pursuing complex, open-ended objectives.</a:t>
                      </a:r>
                      <a:r>
                        <a:rPr lang="en-US" sz="1500" dirty="0"/>
                        <a:t>” — </a:t>
                      </a:r>
                      <a:r>
                        <a:rPr lang="en-US" sz="1500" i="1" dirty="0"/>
                        <a:t>OpenAI</a:t>
                      </a:r>
                      <a:endParaRPr lang="en-US" sz="150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853121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Purpose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Agents combine </a:t>
                      </a:r>
                      <a:r>
                        <a:rPr lang="en-US" sz="1500" b="1" dirty="0"/>
                        <a:t>reasoning</a:t>
                      </a:r>
                      <a:r>
                        <a:rPr lang="en-US" sz="1500" dirty="0"/>
                        <a:t>, </a:t>
                      </a:r>
                      <a:r>
                        <a:rPr lang="en-US" sz="1500" b="1" dirty="0"/>
                        <a:t>tool use</a:t>
                      </a:r>
                      <a:r>
                        <a:rPr lang="en-US" sz="1500" dirty="0"/>
                        <a:t>, and </a:t>
                      </a:r>
                      <a:r>
                        <a:rPr lang="en-US" sz="1500" b="1" dirty="0"/>
                        <a:t>memory</a:t>
                      </a:r>
                      <a:r>
                        <a:rPr lang="en-US" sz="1500" dirty="0"/>
                        <a:t> to autonomously complete tasks — from basic automation to multi-step decision-making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291019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Examples of Tasks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• Run data analysis scripts 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Search the web or use APIs 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Send messages or emails 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Plan and execute multi-step goals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554786"/>
                  </a:ext>
                </a:extLst>
              </a:tr>
              <a:tr h="2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Installation Command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GB" sz="1500" b="1" dirty="0" err="1">
                          <a:latin typeface="Courier New" panose="02070309020205020404" pitchFamily="49" charset="0"/>
                        </a:rPr>
                        <a:t>openai</a:t>
                      </a:r>
                      <a:r>
                        <a:rPr lang="en-GB" sz="1500" b="1" dirty="0">
                          <a:latin typeface="Courier New" panose="02070309020205020404" pitchFamily="49" charset="0"/>
                        </a:rPr>
                        <a:t>-agents</a:t>
                      </a:r>
                      <a:endParaRPr lang="en-GB" sz="1500" b="1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06531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Integration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Works seamlessly with the </a:t>
                      </a:r>
                      <a:r>
                        <a:rPr lang="en-US" sz="1500" b="1" dirty="0"/>
                        <a:t>OpenAI Responses API</a:t>
                      </a:r>
                      <a:r>
                        <a:rPr lang="en-US" sz="1500" dirty="0"/>
                        <a:t>, enabling dynamic tool-calling and multi-step task completion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716649"/>
                  </a:ext>
                </a:extLst>
              </a:tr>
              <a:tr h="45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/>
                        <a:t>Benefit</a:t>
                      </a:r>
                      <a:endParaRPr lang="en-GB" sz="150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Turns LLMs from reactive assistants into </a:t>
                      </a:r>
                      <a:r>
                        <a:rPr lang="en-US" sz="1500" b="1" dirty="0"/>
                        <a:t>goal-driven, autonomous systems</a:t>
                      </a:r>
                      <a:endParaRPr lang="en-US" sz="150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07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909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5946-4DD0-BD92-AA53-84A0114E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Agents API Basics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B5988-D4A7-6685-1814-D5225EC3C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87856-73F6-E779-223A-A2ED8DB128DC}"/>
              </a:ext>
            </a:extLst>
          </p:cNvPr>
          <p:cNvSpPr txBox="1"/>
          <p:nvPr/>
        </p:nvSpPr>
        <p:spPr>
          <a:xfrm>
            <a:off x="481630" y="2477955"/>
            <a:ext cx="4997789" cy="18774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1: Defining an Agent</a:t>
            </a:r>
          </a:p>
          <a:p>
            <a:endParaRPr lang="en-GB" dirty="0"/>
          </a:p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agent = Agent(</a:t>
            </a:r>
          </a:p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name="Assistant",</a:t>
            </a:r>
          </a:p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instructions=instruction,</a:t>
            </a:r>
          </a:p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model=“gpt-4o-mini” // optional</a:t>
            </a:r>
          </a:p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CACEE-5C36-A4FC-5F88-1B63CE418D68}"/>
              </a:ext>
            </a:extLst>
          </p:cNvPr>
          <p:cNvSpPr txBox="1"/>
          <p:nvPr/>
        </p:nvSpPr>
        <p:spPr>
          <a:xfrm>
            <a:off x="5786542" y="2387379"/>
            <a:ext cx="5193234" cy="13542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Agent: Object representing our intelligent assistant</a:t>
            </a:r>
          </a:p>
          <a:p>
            <a:r>
              <a:rPr lang="en-IN" sz="1600" dirty="0"/>
              <a:t>instructions: Tell the agent how to behave</a:t>
            </a:r>
          </a:p>
          <a:p>
            <a:endParaRPr lang="en-IN" sz="1600" dirty="0"/>
          </a:p>
          <a:p>
            <a:r>
              <a:rPr lang="en-IN" sz="1600" dirty="0"/>
              <a:t>Note: This will create but not run the agent</a:t>
            </a:r>
          </a:p>
          <a:p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FB2CE-B9D9-23AC-8969-ABEDF6A54210}"/>
              </a:ext>
            </a:extLst>
          </p:cNvPr>
          <p:cNvSpPr txBox="1"/>
          <p:nvPr/>
        </p:nvSpPr>
        <p:spPr>
          <a:xfrm>
            <a:off x="481630" y="4368146"/>
            <a:ext cx="4997789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2: Running the Agent</a:t>
            </a:r>
          </a:p>
          <a:p>
            <a:endParaRPr lang="en-GB" dirty="0"/>
          </a:p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result = </a:t>
            </a:r>
            <a:r>
              <a:rPr lang="en-GB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Runner.run_sync</a:t>
            </a:r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(agent, message)</a:t>
            </a:r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7E146-5ACA-6717-0FFB-2F94366438B4}"/>
              </a:ext>
            </a:extLst>
          </p:cNvPr>
          <p:cNvSpPr txBox="1"/>
          <p:nvPr/>
        </p:nvSpPr>
        <p:spPr>
          <a:xfrm>
            <a:off x="5786542" y="3928562"/>
            <a:ext cx="5193234" cy="26161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/>
              <a:t>Runner.run_sync</a:t>
            </a:r>
            <a:r>
              <a:rPr lang="en-US" sz="1600" dirty="0"/>
              <a:t> executes the agent synchronously</a:t>
            </a:r>
          </a:p>
          <a:p>
            <a:endParaRPr lang="en-US" sz="1600" dirty="0"/>
          </a:p>
          <a:p>
            <a:r>
              <a:rPr lang="en-US" sz="1600" dirty="0"/>
              <a:t>Sends the message to the agent along with instructions</a:t>
            </a:r>
          </a:p>
          <a:p>
            <a:endParaRPr lang="en-US" sz="1600" dirty="0"/>
          </a:p>
          <a:p>
            <a:r>
              <a:rPr lang="en-US" sz="1600" dirty="0"/>
              <a:t>Internally:</a:t>
            </a:r>
          </a:p>
          <a:p>
            <a:r>
              <a:rPr lang="en-US" sz="1600" dirty="0"/>
              <a:t>1. The agent formats the message for the LLM</a:t>
            </a:r>
          </a:p>
          <a:p>
            <a:r>
              <a:rPr lang="en-US" sz="1600" dirty="0"/>
              <a:t>2. The LLM generates a response based on the instruction and message</a:t>
            </a:r>
          </a:p>
          <a:p>
            <a:r>
              <a:rPr lang="en-US" sz="1600" dirty="0"/>
              <a:t>3. Runner wraps this execution and stores the final output in result</a:t>
            </a:r>
            <a:endParaRPr lang="en-GB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D05C8-12DD-80FE-0A0F-79488B7CAC71}"/>
              </a:ext>
            </a:extLst>
          </p:cNvPr>
          <p:cNvSpPr txBox="1"/>
          <p:nvPr/>
        </p:nvSpPr>
        <p:spPr>
          <a:xfrm>
            <a:off x="838200" y="1348571"/>
            <a:ext cx="9745745" cy="9541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instruction = "You are a helpful customer support analyst.“</a:t>
            </a:r>
          </a:p>
          <a:p>
            <a:endParaRPr lang="en-US" sz="1400" dirty="0"/>
          </a:p>
          <a:p>
            <a:r>
              <a:rPr lang="en-US" sz="1400" dirty="0"/>
              <a:t>message = "Analyze this customer feedback and suggest improvements to the product: 'The packaging is great, but the delivery was delayed by two days.'"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750283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7C96-86DD-FD90-D3E4-8A30CCFA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OpenAI Agents SDK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01EB-49D5-3EBA-216C-C6339E04C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Allows us to build agentic apps with basic primitives: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025BEE-F3C2-6731-5F43-051E63E968E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62027"/>
          <a:ext cx="10515600" cy="420316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596775">
                  <a:extLst>
                    <a:ext uri="{9D8B030D-6E8A-4147-A177-3AD203B41FA5}">
                      <a16:colId xmlns:a16="http://schemas.microsoft.com/office/drawing/2014/main" val="2469913142"/>
                    </a:ext>
                  </a:extLst>
                </a:gridCol>
                <a:gridCol w="4078841">
                  <a:extLst>
                    <a:ext uri="{9D8B030D-6E8A-4147-A177-3AD203B41FA5}">
                      <a16:colId xmlns:a16="http://schemas.microsoft.com/office/drawing/2014/main" val="1365375933"/>
                    </a:ext>
                  </a:extLst>
                </a:gridCol>
                <a:gridCol w="4839984">
                  <a:extLst>
                    <a:ext uri="{9D8B030D-6E8A-4147-A177-3AD203B41FA5}">
                      <a16:colId xmlns:a16="http://schemas.microsoft.com/office/drawing/2014/main" val="3864009623"/>
                    </a:ext>
                  </a:extLst>
                </a:gridCol>
              </a:tblGrid>
              <a:tr h="413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Primitive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Description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Example Use Case</a:t>
                      </a:r>
                      <a:endParaRPr lang="en-I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516050"/>
                  </a:ext>
                </a:extLst>
              </a:tr>
              <a:tr h="85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Agents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LLMs equipped with instructions and tools.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 customer support bot that answers FAQs using a knowledge base and function calling.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438369"/>
                  </a:ext>
                </a:extLst>
              </a:tr>
              <a:tr h="85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Handoffs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Allow agents to delegate to other agents for specific tasks.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 general support agent escalates a billing-related query to a specialized billing agent.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061710"/>
                  </a:ext>
                </a:extLst>
              </a:tr>
              <a:tr h="1034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Guardrails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Enable validation of agent inputs and outputs.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Prevent an agent from generating unsafe instructions or validate that output is JSON before returning.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341352"/>
                  </a:ext>
                </a:extLst>
              </a:tr>
              <a:tr h="1034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Sessions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Automatically maintain conversation history across agent runs.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 tutoring agent remembers what topics a student has already covered across multiple sessions.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033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22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36D3-4109-4E2D-E4F6-551587E9A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Agents API: Sync or Async?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37860-E044-7F56-74A2-7FA1AF363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Agents API supports two modes of operation: </a:t>
            </a:r>
            <a:r>
              <a:rPr lang="en-IN" b="1" dirty="0"/>
              <a:t>synchronous</a:t>
            </a:r>
            <a:r>
              <a:rPr lang="en-IN" dirty="0"/>
              <a:t> and </a:t>
            </a:r>
            <a:r>
              <a:rPr lang="en-IN" b="1" dirty="0"/>
              <a:t>asynchronous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CE6E5B-E743-D5FB-0800-7B2F164CB2E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854883"/>
          <a:ext cx="10679634" cy="393314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240047">
                  <a:extLst>
                    <a:ext uri="{9D8B030D-6E8A-4147-A177-3AD203B41FA5}">
                      <a16:colId xmlns:a16="http://schemas.microsoft.com/office/drawing/2014/main" val="3291926472"/>
                    </a:ext>
                  </a:extLst>
                </a:gridCol>
                <a:gridCol w="3860025">
                  <a:extLst>
                    <a:ext uri="{9D8B030D-6E8A-4147-A177-3AD203B41FA5}">
                      <a16:colId xmlns:a16="http://schemas.microsoft.com/office/drawing/2014/main" val="3225460055"/>
                    </a:ext>
                  </a:extLst>
                </a:gridCol>
                <a:gridCol w="4579562">
                  <a:extLst>
                    <a:ext uri="{9D8B030D-6E8A-4147-A177-3AD203B41FA5}">
                      <a16:colId xmlns:a16="http://schemas.microsoft.com/office/drawing/2014/main" val="612264176"/>
                    </a:ext>
                  </a:extLst>
                </a:gridCol>
              </a:tblGrid>
              <a:tr h="15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Aspect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solidFill>
                            <a:srgbClr val="FF0000"/>
                          </a:solidFill>
                        </a:rPr>
                        <a:t>Synchronous</a:t>
                      </a:r>
                      <a:r>
                        <a:rPr lang="en-GB" sz="1800" b="1" dirty="0"/>
                        <a:t>: </a:t>
                      </a:r>
                      <a:r>
                        <a:rPr lang="en-GB" sz="1800" b="1" dirty="0" err="1"/>
                        <a:t>Runner.run_sync</a:t>
                      </a:r>
                      <a:r>
                        <a:rPr lang="en-GB" sz="1800" b="1" dirty="0"/>
                        <a:t>(...)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solidFill>
                            <a:srgbClr val="FF0000"/>
                          </a:solidFill>
                        </a:rPr>
                        <a:t>Asynchronous</a:t>
                      </a:r>
                      <a:r>
                        <a:rPr lang="en-GB" sz="1800" b="1" dirty="0"/>
                        <a:t>: await </a:t>
                      </a:r>
                      <a:r>
                        <a:rPr lang="en-GB" sz="1800" b="1" dirty="0" err="1"/>
                        <a:t>Runner.run</a:t>
                      </a:r>
                      <a:r>
                        <a:rPr lang="en-GB" sz="1800" b="1" dirty="0"/>
                        <a:t>(...)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3010442310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Programming style</a:t>
                      </a:r>
                      <a:endParaRPr lang="en-GB" sz="180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Blocking (runs one task at a time)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Non-blocking (can run multiple tasks concurrently)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619753185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Ease of use</a:t>
                      </a:r>
                      <a:endParaRPr lang="en-GB" sz="180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Simpler to write, no async/await needed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Requires </a:t>
                      </a:r>
                      <a:r>
                        <a:rPr lang="en-US" sz="1800" b="1" dirty="0" err="1"/>
                        <a:t>asyncio</a:t>
                      </a:r>
                      <a:r>
                        <a:rPr lang="en-US" sz="1800" dirty="0"/>
                        <a:t> and </a:t>
                      </a:r>
                      <a:r>
                        <a:rPr lang="en-US" sz="1800" b="1" dirty="0"/>
                        <a:t>await </a:t>
                      </a:r>
                      <a:r>
                        <a:rPr lang="en-US" sz="1800" dirty="0"/>
                        <a:t>keywords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494663685"/>
                  </a:ext>
                </a:extLst>
              </a:tr>
              <a:tr h="38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Best for</a:t>
                      </a:r>
                      <a:endParaRPr lang="en-GB" sz="180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Quick scripts, one-off calls, debugging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Production apps, web servers, handling multiple sessions or tool calls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2778826006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Concurrency</a:t>
                      </a:r>
                      <a:endParaRPr lang="en-GB" sz="180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Cannot overlap calls – each waits for the previous to finish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Can run multiple LLM calls or tool calls in parallel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2464696240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Performance</a:t>
                      </a:r>
                      <a:endParaRPr lang="en-GB" sz="180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Slower if many requests, since they run sequentially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Faster throughput when managing many tasks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043531246"/>
                  </a:ext>
                </a:extLst>
              </a:tr>
              <a:tr h="38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Error handling</a:t>
                      </a:r>
                      <a:endParaRPr lang="en-GB" sz="180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Traditional try/except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Async exception handling (</a:t>
                      </a:r>
                      <a:r>
                        <a:rPr lang="en-US" sz="1800" dirty="0" err="1"/>
                        <a:t>asyncio.gather</a:t>
                      </a:r>
                      <a:r>
                        <a:rPr lang="en-US" sz="1800" dirty="0"/>
                        <a:t>, cancellation, timeouts)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437436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023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DF21-85EA-70A8-D331-38C0B964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Sync versus Async: Sample Code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B4B982-1536-A196-5614-1CC8B2B03B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82359" y="1392855"/>
          <a:ext cx="10515600" cy="48514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320029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9514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Sync Approach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Async Approach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975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from agents import Agent, Runner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agent = Agent(name="Assistant", </a:t>
                      </a:r>
                    </a:p>
                    <a:p>
                      <a:r>
                        <a:rPr lang="en-GB" dirty="0"/>
                        <a:t>                          instructions="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are a helpful customer support analyst.</a:t>
                      </a:r>
                      <a:r>
                        <a:rPr lang="en-GB" dirty="0"/>
                        <a:t>")</a:t>
                      </a:r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result = </a:t>
                      </a:r>
                      <a:r>
                        <a:rPr lang="en-GB" dirty="0" err="1">
                          <a:solidFill>
                            <a:srgbClr val="FF0000"/>
                          </a:solidFill>
                        </a:rPr>
                        <a:t>Runner.run_sync</a:t>
                      </a:r>
                      <a:r>
                        <a:rPr lang="en-GB" dirty="0"/>
                        <a:t>(agent,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                     "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this customer feedback and suggest improvements to the product: 'The packaging is great, but the delivery was delayed by two days.'"</a:t>
                      </a:r>
                    </a:p>
                    <a:p>
                      <a:r>
                        <a:rPr lang="en-GB" dirty="0"/>
                        <a:t>")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print(</a:t>
                      </a:r>
                      <a:r>
                        <a:rPr lang="en-GB" dirty="0" err="1"/>
                        <a:t>result.final_output</a:t>
                      </a:r>
                      <a:r>
                        <a:rPr lang="en-GB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import </a:t>
                      </a:r>
                      <a:r>
                        <a:rPr lang="en-GB" dirty="0" err="1"/>
                        <a:t>asyncio</a:t>
                      </a:r>
                      <a:endParaRPr lang="en-GB" dirty="0"/>
                    </a:p>
                    <a:p>
                      <a:r>
                        <a:rPr lang="en-GB" dirty="0"/>
                        <a:t>from agents import Agent, Runner</a:t>
                      </a:r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agent = Agent(name="Assistant",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                      instructions="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are a helpful customer support analyst.</a:t>
                      </a:r>
                      <a:r>
                        <a:rPr lang="en-GB" dirty="0"/>
                        <a:t>")</a:t>
                      </a:r>
                    </a:p>
                    <a:p>
                      <a:endParaRPr lang="en-GB" dirty="0"/>
                    </a:p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async </a:t>
                      </a:r>
                      <a:r>
                        <a:rPr lang="en-GB" dirty="0"/>
                        <a:t>def main():</a:t>
                      </a:r>
                    </a:p>
                    <a:p>
                      <a:r>
                        <a:rPr lang="en-GB" dirty="0"/>
                        <a:t>    result = 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await </a:t>
                      </a:r>
                      <a:r>
                        <a:rPr lang="en-GB" dirty="0" err="1">
                          <a:solidFill>
                            <a:srgbClr val="FF0000"/>
                          </a:solidFill>
                        </a:rPr>
                        <a:t>Runner.run</a:t>
                      </a:r>
                      <a:r>
                        <a:rPr lang="en-GB" dirty="0"/>
                        <a:t>(agent,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    “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this customer feedback and suggest improvements to the product: 'The packaging is great, but the delivery was delayed by two days.'"</a:t>
                      </a:r>
                    </a:p>
                    <a:p>
                      <a:r>
                        <a:rPr lang="en-GB" dirty="0"/>
                        <a:t>)</a:t>
                      </a:r>
                    </a:p>
                    <a:p>
                      <a:r>
                        <a:rPr lang="en-GB" dirty="0"/>
                        <a:t>    print(</a:t>
                      </a:r>
                      <a:r>
                        <a:rPr lang="en-GB" dirty="0" err="1"/>
                        <a:t>result.final_output</a:t>
                      </a:r>
                      <a:r>
                        <a:rPr lang="en-GB" dirty="0"/>
                        <a:t>)</a:t>
                      </a:r>
                    </a:p>
                    <a:p>
                      <a:endParaRPr lang="en-GB" dirty="0"/>
                    </a:p>
                    <a:p>
                      <a:r>
                        <a:rPr lang="en-GB" dirty="0" err="1">
                          <a:solidFill>
                            <a:srgbClr val="FF0000"/>
                          </a:solidFill>
                        </a:rPr>
                        <a:t>asyncio.run</a:t>
                      </a:r>
                      <a:r>
                        <a:rPr lang="en-GB" dirty="0"/>
                        <a:t>(main())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028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309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278B-1E8B-F2C2-9CAE-EC0C73D9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First Agent SDK Example (Sync Approach)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8A2D0-C299-4CE6-136E-7063EDBF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agent = Agent(name="Assistant", instructions="You are a helpful assistant")</a:t>
            </a:r>
          </a:p>
          <a:p>
            <a:pPr lvl="1"/>
            <a:r>
              <a:rPr lang="en-US" dirty="0"/>
              <a:t>Create an Agent object, giving it a name and system prompt (to tell it what role to perform)</a:t>
            </a:r>
          </a:p>
          <a:p>
            <a:r>
              <a:rPr lang="en-US" dirty="0">
                <a:solidFill>
                  <a:srgbClr val="FF0000"/>
                </a:solidFill>
              </a:rPr>
              <a:t>result = </a:t>
            </a:r>
            <a:r>
              <a:rPr lang="en-US" dirty="0" err="1">
                <a:solidFill>
                  <a:srgbClr val="FF0000"/>
                </a:solidFill>
              </a:rPr>
              <a:t>Runner.run_sync</a:t>
            </a:r>
            <a:r>
              <a:rPr lang="en-US" dirty="0">
                <a:solidFill>
                  <a:srgbClr val="FF0000"/>
                </a:solidFill>
              </a:rPr>
              <a:t>(agent, "Write a joke about vibe coding.")</a:t>
            </a:r>
          </a:p>
          <a:p>
            <a:pPr lvl="1"/>
            <a:r>
              <a:rPr lang="en-US" dirty="0"/>
              <a:t>Runner executes a task for the agent</a:t>
            </a:r>
          </a:p>
          <a:p>
            <a:pPr lvl="1"/>
            <a:r>
              <a:rPr lang="en-US" dirty="0"/>
              <a:t>Actual task is mentioned in the method call</a:t>
            </a:r>
          </a:p>
          <a:p>
            <a:pPr lvl="1"/>
            <a:r>
              <a:rPr lang="en-US" dirty="0"/>
              <a:t>_sync part indicates that the program will wait for the LLM to finish its work</a:t>
            </a:r>
          </a:p>
          <a:p>
            <a:pPr lvl="1"/>
            <a:r>
              <a:rPr lang="en-US" dirty="0"/>
              <a:t>Output is stored in the result variable</a:t>
            </a:r>
            <a:endParaRPr lang="en-IN" dirty="0"/>
          </a:p>
          <a:p>
            <a:r>
              <a:rPr lang="en-IN" dirty="0"/>
              <a:t>Code: 2_1_openai_agent_basic.py</a:t>
            </a:r>
          </a:p>
        </p:txBody>
      </p:sp>
    </p:spTree>
    <p:extLst>
      <p:ext uri="{BB962C8B-B14F-4D97-AF65-F5344CB8AC3E}">
        <p14:creationId xmlns:p14="http://schemas.microsoft.com/office/powerpoint/2010/main" val="2393752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5A0C-3F7B-9A8E-8C4F-6943C673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asyncio</a:t>
            </a:r>
            <a:r>
              <a:rPr lang="en-IN" dirty="0"/>
              <a:t>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79B55-E6CB-4060-5775-D7C133CC0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Normally, Python runs code synchronously (line by line) - If one line is slow (e.g., waiting for a network request), everything else is stuck</a:t>
            </a:r>
          </a:p>
          <a:p>
            <a:r>
              <a:rPr lang="en-US" dirty="0"/>
              <a:t>But with </a:t>
            </a:r>
            <a:r>
              <a:rPr lang="en-US" dirty="0" err="1"/>
              <a:t>asyncio</a:t>
            </a:r>
            <a:r>
              <a:rPr lang="en-US" dirty="0"/>
              <a:t>, we can do something else while waiting</a:t>
            </a:r>
          </a:p>
          <a:p>
            <a:r>
              <a:rPr lang="en-US" dirty="0"/>
              <a:t>Example analogy:</a:t>
            </a:r>
          </a:p>
          <a:p>
            <a:pPr lvl="1"/>
            <a:r>
              <a:rPr lang="en-US" dirty="0"/>
              <a:t>Normal code (sync): We are cooking noodles. We boil water, stand still until it boils, then add noodles.</a:t>
            </a:r>
          </a:p>
          <a:p>
            <a:pPr lvl="1"/>
            <a:r>
              <a:rPr lang="en-US" dirty="0"/>
              <a:t>Async code: While waiting for the water to boil, we cut vegetables and prepare sauce. Nothing is wasted.</a:t>
            </a:r>
          </a:p>
          <a:p>
            <a:r>
              <a:rPr lang="en-US" dirty="0"/>
              <a:t>Code example: Next slide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6364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9EAE-0294-A462-83C8-D157C0A8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asyncio</a:t>
            </a:r>
            <a:r>
              <a:rPr lang="en-IN" dirty="0"/>
              <a:t> Code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5E676-170D-1715-4CE6-6FEA3661A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IN" sz="14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</a:t>
            </a:r>
            <a:endParaRPr lang="en-IN" sz="14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IN" sz="14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 def task(name, delay):</a:t>
            </a:r>
          </a:p>
          <a:p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</a:t>
            </a:r>
            <a:r>
              <a:rPr lang="en-IN" sz="14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f"Task</a:t>
            </a:r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{name} started")</a:t>
            </a:r>
          </a:p>
          <a:p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await </a:t>
            </a:r>
            <a:r>
              <a:rPr lang="en-IN" sz="14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asyncio.sleep</a:t>
            </a:r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(delay)   # simulate waiting</a:t>
            </a:r>
          </a:p>
          <a:p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</a:t>
            </a:r>
            <a:r>
              <a:rPr lang="en-IN" sz="14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f"Task</a:t>
            </a:r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{name} finished after {delay} seconds")</a:t>
            </a:r>
          </a:p>
          <a:p>
            <a:endParaRPr lang="en-IN" sz="14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 def main():</a:t>
            </a:r>
          </a:p>
          <a:p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# Run tasks concurrently</a:t>
            </a:r>
          </a:p>
          <a:p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await </a:t>
            </a:r>
            <a:r>
              <a:rPr lang="en-IN" sz="14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asyncio.gather</a:t>
            </a:r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task("A", 2),</a:t>
            </a:r>
          </a:p>
          <a:p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task("B", 1),</a:t>
            </a:r>
          </a:p>
          <a:p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task("C", 3),</a:t>
            </a:r>
          </a:p>
          <a:p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)</a:t>
            </a:r>
          </a:p>
          <a:p>
            <a:endParaRPr lang="en-IN" sz="14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asyncio.run</a:t>
            </a:r>
            <a:r>
              <a:rPr lang="en-IN" sz="1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(main())</a:t>
            </a:r>
          </a:p>
          <a:p>
            <a:endParaRPr lang="en-IN" sz="14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C194F-8C06-1B4E-AD01-4D5C36318D7A}"/>
              </a:ext>
            </a:extLst>
          </p:cNvPr>
          <p:cNvSpPr txBox="1"/>
          <p:nvPr/>
        </p:nvSpPr>
        <p:spPr>
          <a:xfrm>
            <a:off x="5534346" y="3533878"/>
            <a:ext cx="6044629" cy="31700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/>
              <a:t>How to write</a:t>
            </a:r>
          </a:p>
          <a:p>
            <a:endParaRPr lang="en-IN" sz="2000" dirty="0"/>
          </a:p>
          <a:p>
            <a:pPr marL="342900" indent="-342900">
              <a:buAutoNum type="arabicParenBoth"/>
            </a:pPr>
            <a:r>
              <a:rPr lang="en-IN" sz="2000" b="1" dirty="0"/>
              <a:t>Coroutine</a:t>
            </a:r>
            <a:r>
              <a:rPr lang="en-IN" sz="2000" dirty="0"/>
              <a:t>: A special function defined with </a:t>
            </a:r>
            <a:r>
              <a:rPr lang="en-IN" sz="2000" b="1" dirty="0"/>
              <a:t>async def</a:t>
            </a:r>
            <a:r>
              <a:rPr lang="en-IN" sz="2000" dirty="0"/>
              <a:t>, which can be paused (</a:t>
            </a:r>
            <a:r>
              <a:rPr lang="en-IN" sz="2000" b="1" dirty="0"/>
              <a:t>await</a:t>
            </a:r>
            <a:r>
              <a:rPr lang="en-IN" sz="2000" dirty="0"/>
              <a:t>) and resumed later</a:t>
            </a:r>
          </a:p>
          <a:p>
            <a:pPr marL="342900" indent="-342900">
              <a:buAutoNum type="arabicParenBoth"/>
            </a:pPr>
            <a:r>
              <a:rPr lang="en-IN" sz="2000" b="1" dirty="0"/>
              <a:t>Event loop</a:t>
            </a:r>
            <a:r>
              <a:rPr lang="en-IN" sz="2000" dirty="0"/>
              <a:t>: The core of </a:t>
            </a:r>
            <a:r>
              <a:rPr lang="en-IN" sz="2000" b="1" dirty="0" err="1"/>
              <a:t>asyncio</a:t>
            </a:r>
            <a:r>
              <a:rPr lang="en-IN" sz="2000" dirty="0"/>
              <a:t>, which manages all coroutines and usually starts with </a:t>
            </a:r>
            <a:r>
              <a:rPr lang="en-IN" sz="2000" b="1" dirty="0" err="1"/>
              <a:t>asyncio.run</a:t>
            </a:r>
            <a:r>
              <a:rPr lang="en-IN" sz="2000" dirty="0"/>
              <a:t>(function())</a:t>
            </a:r>
          </a:p>
          <a:p>
            <a:pPr marL="342900" indent="-342900">
              <a:buAutoNum type="arabicParenBoth"/>
            </a:pPr>
            <a:r>
              <a:rPr lang="en-IN" sz="2000" b="1" dirty="0"/>
              <a:t>await</a:t>
            </a:r>
            <a:r>
              <a:rPr lang="en-IN" sz="2000" dirty="0"/>
              <a:t>: Used inside </a:t>
            </a:r>
            <a:r>
              <a:rPr lang="en-IN" sz="2000" b="1" dirty="0" err="1"/>
              <a:t>asyncio</a:t>
            </a:r>
            <a:r>
              <a:rPr lang="en-IN" sz="2000" b="1" dirty="0"/>
              <a:t> def </a:t>
            </a:r>
            <a:r>
              <a:rPr lang="en-IN" sz="2000" dirty="0"/>
              <a:t>functions to </a:t>
            </a:r>
            <a:r>
              <a:rPr lang="en-IN" sz="2000" i="1" dirty="0"/>
              <a:t>wait </a:t>
            </a:r>
            <a:r>
              <a:rPr lang="en-IN" sz="2000" dirty="0"/>
              <a:t>for another coroutine … While waiting, Python can run other tasks</a:t>
            </a:r>
          </a:p>
        </p:txBody>
      </p:sp>
    </p:spTree>
    <p:extLst>
      <p:ext uri="{BB962C8B-B14F-4D97-AF65-F5344CB8AC3E}">
        <p14:creationId xmlns:p14="http://schemas.microsoft.com/office/powerpoint/2010/main" val="1359900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968CE-0C44-2BD5-EE14-5AD67AE8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Sync Versus Async Processing in Agents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8A89-7D07-B19F-DD61-15371D5D8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Run two agents one after the other, i.e. in sync mode, wait for their work to complete, and then output the final combined result</a:t>
            </a:r>
          </a:p>
          <a:p>
            <a:pPr lvl="1"/>
            <a:r>
              <a:rPr lang="en-GB" dirty="0"/>
              <a:t>2_8_openai_agent_sync.py</a:t>
            </a:r>
          </a:p>
          <a:p>
            <a:r>
              <a:rPr lang="en-IN" dirty="0"/>
              <a:t>Run the same two agents at the same time, i.e. in async mode, wait for their work to complete, and then output the final combined result</a:t>
            </a:r>
          </a:p>
          <a:p>
            <a:pPr lvl="1"/>
            <a:r>
              <a:rPr lang="en-GB" dirty="0"/>
              <a:t>2_9_openai_agent_async.py</a:t>
            </a:r>
            <a:endParaRPr lang="en-IN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2677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ED268-C290-25F4-35B3-6744992EF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41"/>
            <a:ext cx="10515600" cy="767817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FC80E-2FF2-F1B8-AA52-30C22D0BE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870A3E-DC7B-225C-62CA-C38046A6DC85}"/>
              </a:ext>
            </a:extLst>
          </p:cNvPr>
          <p:cNvGraphicFramePr>
            <a:graphicFrameLocks noGrp="1"/>
          </p:cNvGraphicFramePr>
          <p:nvPr/>
        </p:nvGraphicFramePr>
        <p:xfrm>
          <a:off x="342028" y="251286"/>
          <a:ext cx="11698736" cy="5857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3908">
                  <a:extLst>
                    <a:ext uri="{9D8B030D-6E8A-4147-A177-3AD203B41FA5}">
                      <a16:colId xmlns:a16="http://schemas.microsoft.com/office/drawing/2014/main" val="4114190081"/>
                    </a:ext>
                  </a:extLst>
                </a:gridCol>
                <a:gridCol w="2408153">
                  <a:extLst>
                    <a:ext uri="{9D8B030D-6E8A-4147-A177-3AD203B41FA5}">
                      <a16:colId xmlns:a16="http://schemas.microsoft.com/office/drawing/2014/main" val="448936344"/>
                    </a:ext>
                  </a:extLst>
                </a:gridCol>
                <a:gridCol w="2366272">
                  <a:extLst>
                    <a:ext uri="{9D8B030D-6E8A-4147-A177-3AD203B41FA5}">
                      <a16:colId xmlns:a16="http://schemas.microsoft.com/office/drawing/2014/main" val="968096629"/>
                    </a:ext>
                  </a:extLst>
                </a:gridCol>
                <a:gridCol w="2052165">
                  <a:extLst>
                    <a:ext uri="{9D8B030D-6E8A-4147-A177-3AD203B41FA5}">
                      <a16:colId xmlns:a16="http://schemas.microsoft.com/office/drawing/2014/main" val="2007595872"/>
                    </a:ext>
                  </a:extLst>
                </a:gridCol>
                <a:gridCol w="1849740">
                  <a:extLst>
                    <a:ext uri="{9D8B030D-6E8A-4147-A177-3AD203B41FA5}">
                      <a16:colId xmlns:a16="http://schemas.microsoft.com/office/drawing/2014/main" val="1187256254"/>
                    </a:ext>
                  </a:extLst>
                </a:gridCol>
                <a:gridCol w="2638498">
                  <a:extLst>
                    <a:ext uri="{9D8B030D-6E8A-4147-A177-3AD203B41FA5}">
                      <a16:colId xmlns:a16="http://schemas.microsoft.com/office/drawing/2014/main" val="26156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#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Task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Design Pattern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Features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Improvements still to be done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Code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53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 customer support bot that answers FAQs using a knowledge base and function calling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Information Retrieval Pattern: Pull an answer directly from a predefined source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Function (Tool) calling*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Knowledgebase is hardcoded, Customer queries are searched on keywords, UI is not good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2_2_openai_agent_tool_hardcoded_knowledge.py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536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2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 not search the customer query based on keywords, but perform semantic search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Semantic Search Pattern: Understand meaning behind the user’s query, not just keywords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Compute embeddings for knowledge base and compare with embeddings for customer query*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Knowledgebase is hardcoded, UI is not good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2_3_openai_agent_hardcoded_semantic.py</a:t>
                      </a:r>
                      <a:endParaRPr lang="en-GB" sz="1200" dirty="0"/>
                    </a:p>
                    <a:p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95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3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Use OpenAI’s Vector store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RAG without we coding for it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OpenAI provides a vector store – Upload our data there and use it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Create our own vector store to reduce </a:t>
                      </a:r>
                      <a:r>
                        <a:rPr lang="en-IN" sz="1200" dirty="0" err="1"/>
                        <a:t>sosts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2_4_openai_agent_openai_vectorstore.py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65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4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Store our FAQs in </a:t>
                      </a:r>
                      <a:r>
                        <a:rPr lang="en-IN" sz="1200" dirty="0" err="1"/>
                        <a:t>Sqllite</a:t>
                      </a:r>
                      <a:r>
                        <a:rPr lang="en-IN" sz="1200" dirty="0"/>
                        <a:t> DB and then vectorize them and use them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RAG – Basic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We create our own vectorized database, but limited in size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Use real data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First run 2_openai_agent_create_faq_db.py and then 2_5_openai_agent_faq_db_vectorized.py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11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4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Make it like a chatbot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Not a pattern, but separating the UI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Added </a:t>
                      </a:r>
                      <a:r>
                        <a:rPr lang="en-IN" sz="1200" dirty="0" err="1"/>
                        <a:t>Gradio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Make it RAG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2_6_openai_agent_rag.py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19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5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Add RAG Functionality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RAG (New India Assurance)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Added RAG*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None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2_7_openai_agent_new_india.py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1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6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Customer Service Agent using Memory*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Long and Short Term Memory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Different example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NA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2_10_openai_agent_memory.py</a:t>
                      </a:r>
                      <a:endParaRPr lang="en-GB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694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7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Handoffs* (Using new data – not the earlier customer service data)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Handoff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Triage agents interprets customer sentiment and routes to an appropriate agent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NA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First run </a:t>
                      </a:r>
                      <a:r>
                        <a:rPr lang="en-US" sz="1200" dirty="0"/>
                        <a:t>2_openai_agent_customer_embeddings_creation.py then 2_11_openai_agent_handoff.py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440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3891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5ECD-3366-6E30-2947-87B0572F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(Tool) Calling Workflow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A928-EE00-4365-2C76-83C9BFC8B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Tool calling</a:t>
            </a:r>
            <a:r>
              <a:rPr lang="en-US" dirty="0"/>
              <a:t>: Allows an LLM to </a:t>
            </a:r>
            <a:r>
              <a:rPr lang="en-US" b="1" dirty="0"/>
              <a:t>delegate specific tasks</a:t>
            </a:r>
            <a:r>
              <a:rPr lang="en-US" dirty="0"/>
              <a:t> to external functions, APIs, or knowledge sources, making them more useful for real-world tasks, beyond just text generation</a:t>
            </a:r>
          </a:p>
          <a:p>
            <a:r>
              <a:rPr lang="en-US" dirty="0"/>
              <a:t>Components</a:t>
            </a: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64F03B-37BF-D800-905E-75D623061CE1}"/>
              </a:ext>
            </a:extLst>
          </p:cNvPr>
          <p:cNvGraphicFramePr>
            <a:graphicFrameLocks noGrp="1"/>
          </p:cNvGraphicFramePr>
          <p:nvPr/>
        </p:nvGraphicFramePr>
        <p:xfrm>
          <a:off x="998744" y="3566795"/>
          <a:ext cx="10515600" cy="2286000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3301031">
                  <a:extLst>
                    <a:ext uri="{9D8B030D-6E8A-4147-A177-3AD203B41FA5}">
                      <a16:colId xmlns:a16="http://schemas.microsoft.com/office/drawing/2014/main" val="1845314149"/>
                    </a:ext>
                  </a:extLst>
                </a:gridCol>
                <a:gridCol w="7214569">
                  <a:extLst>
                    <a:ext uri="{9D8B030D-6E8A-4147-A177-3AD203B41FA5}">
                      <a16:colId xmlns:a16="http://schemas.microsoft.com/office/drawing/2014/main" val="4125678451"/>
                    </a:ext>
                  </a:extLst>
                </a:gridCol>
              </a:tblGrid>
              <a:tr h="209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Role / 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335592"/>
                  </a:ext>
                </a:extLst>
              </a:tr>
              <a:tr h="366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LLM (Agent)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Generates responses and decides when to call a tool. Uses instructions, context, and available tool schemas.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284055"/>
                  </a:ext>
                </a:extLst>
              </a:tr>
              <a:tr h="52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Tool / Function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Encapsulates a task the agent can perform. Has a name, description, and parameter schema. Provides a callback function to execute when called.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711033"/>
                  </a:ext>
                </a:extLst>
              </a:tr>
              <a:tr h="52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Runner / Executor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Middleware that passes the tool call from the agent to our function. Handles asynchronous execution, error handling, and return of results.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474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571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DF947-4D32-DF06-401F-E5506E50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255" y="220353"/>
            <a:ext cx="3033915" cy="1325563"/>
          </a:xfrm>
        </p:spPr>
        <p:txBody>
          <a:bodyPr/>
          <a:lstStyle/>
          <a:p>
            <a:r>
              <a:rPr lang="en-IN" dirty="0"/>
              <a:t>Tool Workflow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4453BA-0C98-A8BD-1EA4-96036E3FBF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88757" y="1688226"/>
          <a:ext cx="10944879" cy="4589641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558719537"/>
                    </a:ext>
                  </a:extLst>
                </a:gridCol>
                <a:gridCol w="4397497">
                  <a:extLst>
                    <a:ext uri="{9D8B030D-6E8A-4147-A177-3AD203B41FA5}">
                      <a16:colId xmlns:a16="http://schemas.microsoft.com/office/drawing/2014/main" val="1256724825"/>
                    </a:ext>
                  </a:extLst>
                </a:gridCol>
                <a:gridCol w="4620860">
                  <a:extLst>
                    <a:ext uri="{9D8B030D-6E8A-4147-A177-3AD203B41FA5}">
                      <a16:colId xmlns:a16="http://schemas.microsoft.com/office/drawing/2014/main" val="1463455223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Step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Description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Example / Notes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45051737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1. Agent receives user input</a:t>
                      </a:r>
                      <a:endParaRPr lang="en-US" sz="16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User types a message. Agent receives it along with instructions and context.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"What is the return policy?"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16238299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2. Agent decides whether to call a tool</a:t>
                      </a:r>
                      <a:endParaRPr lang="en-US" sz="16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Agent checks available tools. Decides whether to call a tool or answer internally.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Call get_faq_answer tool for known topic or answer directly.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271434506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3. Agent generates a tool call</a:t>
                      </a:r>
                      <a:endParaRPr lang="en-US" sz="16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Agent creates a structured function call matching the tool’s schema. Ensures required fields are present and types are correct.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{ "name": "get_faq_answer", "parameters": { "topic": "return policy" } }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92094827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4. Runner executes the tool</a:t>
                      </a:r>
                      <a:endParaRPr lang="en-US" sz="16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Runner calls the registered callback function. Passes parameters and tool context (metadata).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params = {"topic": "return policy"} tool_context includes agent name, conversation ID, etc.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884221783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5. Tool returns results</a:t>
                      </a:r>
                      <a:endParaRPr lang="en-GB" sz="16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Callback function fetches the answer from knowledge base or API. Runner passes it back to the agent.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"You can return any product within 30 days of delivery."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0826978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6. Agent generates final response</a:t>
                      </a:r>
                      <a:endParaRPr lang="en-GB" sz="16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Agent combines tool output with conversational context and formats response for the user.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Bot: You can return any product within 30 days of delivery.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79975172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7. Optional – Logging / Analytics</a:t>
                      </a:r>
                      <a:endParaRPr lang="en-GB" sz="16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Tool calls, parameters, and results can be logged for auditing, analytics, or improving accuracy.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Useful for monitoring and refining agent behavior.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092289236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72A02E99-1C66-37A6-3882-03AE2D8C2B14}"/>
              </a:ext>
            </a:extLst>
          </p:cNvPr>
          <p:cNvSpPr/>
          <p:nvPr/>
        </p:nvSpPr>
        <p:spPr>
          <a:xfrm>
            <a:off x="3846064" y="388591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B40AFB-FBC0-E39A-CF82-986319084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091" y="124101"/>
            <a:ext cx="844598" cy="80191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F6AF3259-4FE3-394B-3E71-F7FC31CDC5D6}"/>
              </a:ext>
            </a:extLst>
          </p:cNvPr>
          <p:cNvSpPr/>
          <p:nvPr/>
        </p:nvSpPr>
        <p:spPr>
          <a:xfrm>
            <a:off x="5030652" y="388590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897644-0652-0866-2BAD-78AFDD6AD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27" y="107409"/>
            <a:ext cx="821354" cy="8352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7CF5C6-5AE9-C0B7-6779-09C7BE168C7F}"/>
              </a:ext>
            </a:extLst>
          </p:cNvPr>
          <p:cNvSpPr txBox="1"/>
          <p:nvPr/>
        </p:nvSpPr>
        <p:spPr>
          <a:xfrm>
            <a:off x="5372679" y="977213"/>
            <a:ext cx="844598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</a:rPr>
              <a:t>Tool call needed</a:t>
            </a:r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B917F78-BFAD-A3F8-2F6E-AA1BED87BBE2}"/>
              </a:ext>
            </a:extLst>
          </p:cNvPr>
          <p:cNvSpPr/>
          <p:nvPr/>
        </p:nvSpPr>
        <p:spPr>
          <a:xfrm>
            <a:off x="6268324" y="388589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4B7DE3-E620-47A2-0A2A-7F073DB22687}"/>
              </a:ext>
            </a:extLst>
          </p:cNvPr>
          <p:cNvSpPr txBox="1"/>
          <p:nvPr/>
        </p:nvSpPr>
        <p:spPr>
          <a:xfrm>
            <a:off x="7847973" y="228036"/>
            <a:ext cx="844598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Tool </a:t>
            </a:r>
          </a:p>
          <a:p>
            <a:pPr algn="ctr"/>
            <a:r>
              <a:rPr lang="en-IN" sz="1400" b="1" dirty="0"/>
              <a:t>call</a:t>
            </a:r>
            <a:endParaRPr lang="en-GB" sz="1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5F3F1D-BFF3-8DA2-A7C6-3402D2C6F0CF}"/>
              </a:ext>
            </a:extLst>
          </p:cNvPr>
          <p:cNvSpPr txBox="1"/>
          <p:nvPr/>
        </p:nvSpPr>
        <p:spPr>
          <a:xfrm>
            <a:off x="7847973" y="951227"/>
            <a:ext cx="844598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</a:rPr>
              <a:t>Returns output</a:t>
            </a:r>
            <a:endParaRPr lang="en-GB" sz="1400" b="1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E84A73-9678-6695-D126-D03336505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794" y="65758"/>
            <a:ext cx="607036" cy="918594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E773F929-1768-B679-48FF-C8A3973394FA}"/>
              </a:ext>
            </a:extLst>
          </p:cNvPr>
          <p:cNvSpPr/>
          <p:nvPr/>
        </p:nvSpPr>
        <p:spPr>
          <a:xfrm>
            <a:off x="7454949" y="367316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337761-5390-F4B0-CBB5-34C4A4DEEE78}"/>
              </a:ext>
            </a:extLst>
          </p:cNvPr>
          <p:cNvSpPr txBox="1"/>
          <p:nvPr/>
        </p:nvSpPr>
        <p:spPr>
          <a:xfrm>
            <a:off x="6556355" y="997677"/>
            <a:ext cx="844598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Runner</a:t>
            </a:r>
            <a:endParaRPr lang="en-GB" sz="14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9E5AFFB-85F3-C732-EC58-C443942C4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96" y="78043"/>
            <a:ext cx="844598" cy="801910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F7E0A9DC-6300-21A4-0341-6595A38B119B}"/>
              </a:ext>
            </a:extLst>
          </p:cNvPr>
          <p:cNvSpPr/>
          <p:nvPr/>
        </p:nvSpPr>
        <p:spPr>
          <a:xfrm>
            <a:off x="8773469" y="377963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3F2B870-DD8B-16B1-1058-840D829A84EC}"/>
              </a:ext>
            </a:extLst>
          </p:cNvPr>
          <p:cNvSpPr/>
          <p:nvPr/>
        </p:nvSpPr>
        <p:spPr>
          <a:xfrm>
            <a:off x="10032427" y="367315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3A19F35-FCAC-0A4E-A3A0-DB378ACDE2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264757" y="124101"/>
            <a:ext cx="526693" cy="105400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83C9539-FF2D-A546-11BB-410DBFE3DE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0437469" y="90848"/>
            <a:ext cx="526693" cy="105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99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B6773-F51B-24A1-A43E-444D087F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56" y="80842"/>
            <a:ext cx="10515600" cy="639614"/>
          </a:xfrm>
        </p:spPr>
        <p:txBody>
          <a:bodyPr>
            <a:normAutofit fontScale="90000"/>
          </a:bodyPr>
          <a:lstStyle/>
          <a:p>
            <a:r>
              <a:rPr lang="en-IN" dirty="0"/>
              <a:t>Function (Tool) Calling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CFC0D-BDA4-3086-CACB-D602D8BE0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F4B2D-B96C-5E8D-8A33-E283CF955E49}"/>
              </a:ext>
            </a:extLst>
          </p:cNvPr>
          <p:cNvSpPr txBox="1"/>
          <p:nvPr/>
        </p:nvSpPr>
        <p:spPr>
          <a:xfrm>
            <a:off x="174503" y="788758"/>
            <a:ext cx="5828427" cy="27699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1: Write the actual function</a:t>
            </a:r>
            <a:endParaRPr lang="en-IN" sz="1200" b="1" dirty="0"/>
          </a:p>
          <a:p>
            <a:endParaRPr lang="en-IN" sz="1200" dirty="0"/>
          </a:p>
          <a:p>
            <a:r>
              <a:rPr lang="en-US" b="1" dirty="0">
                <a:solidFill>
                  <a:srgbClr val="FF0000"/>
                </a:solidFill>
              </a:rPr>
              <a:t>@function_tool</a:t>
            </a:r>
          </a:p>
          <a:p>
            <a:r>
              <a:rPr lang="en-US" dirty="0"/>
              <a:t>async def </a:t>
            </a:r>
            <a:r>
              <a:rPr lang="en-US" dirty="0" err="1"/>
              <a:t>faq_invoker</a:t>
            </a:r>
            <a:r>
              <a:rPr lang="en-US" dirty="0"/>
              <a:t>(topic: str) -&gt; str:</a:t>
            </a:r>
          </a:p>
          <a:p>
            <a:r>
              <a:rPr lang="en-US" dirty="0"/>
              <a:t>    </a:t>
            </a:r>
            <a:r>
              <a:rPr lang="en-US" dirty="0" err="1"/>
              <a:t>user_query</a:t>
            </a:r>
            <a:r>
              <a:rPr lang="en-US" dirty="0"/>
              <a:t> = </a:t>
            </a:r>
            <a:r>
              <a:rPr lang="en-US" dirty="0" err="1"/>
              <a:t>topic.lower</a:t>
            </a:r>
            <a:r>
              <a:rPr lang="en-US" dirty="0"/>
              <a:t>()</a:t>
            </a:r>
          </a:p>
          <a:p>
            <a:r>
              <a:rPr lang="en-US" dirty="0"/>
              <a:t>    for </a:t>
            </a:r>
            <a:r>
              <a:rPr lang="en-US" dirty="0" err="1"/>
              <a:t>topic_key</a:t>
            </a:r>
            <a:r>
              <a:rPr lang="en-US" dirty="0"/>
              <a:t>, answer in  	</a:t>
            </a:r>
            <a:r>
              <a:rPr lang="en-US" dirty="0" err="1"/>
              <a:t>knowledge_base.items</a:t>
            </a:r>
            <a:r>
              <a:rPr lang="en-US" dirty="0"/>
              <a:t>():</a:t>
            </a:r>
          </a:p>
          <a:p>
            <a:r>
              <a:rPr lang="en-US" dirty="0"/>
              <a:t>        if </a:t>
            </a:r>
            <a:r>
              <a:rPr lang="en-US" dirty="0" err="1"/>
              <a:t>topic_key</a:t>
            </a:r>
            <a:r>
              <a:rPr lang="en-US" dirty="0"/>
              <a:t> in </a:t>
            </a:r>
            <a:r>
              <a:rPr lang="en-US" dirty="0" err="1"/>
              <a:t>user_query</a:t>
            </a:r>
            <a:r>
              <a:rPr lang="en-US" dirty="0"/>
              <a:t>:</a:t>
            </a:r>
          </a:p>
          <a:p>
            <a:r>
              <a:rPr lang="en-US" dirty="0"/>
              <a:t>            return answer</a:t>
            </a:r>
          </a:p>
          <a:p>
            <a:r>
              <a:rPr lang="en-US" dirty="0"/>
              <a:t>        return (</a:t>
            </a:r>
          </a:p>
          <a:p>
            <a:r>
              <a:rPr lang="en-US" dirty="0"/>
              <a:t>           "I'm sorry …    )</a:t>
            </a:r>
            <a:endParaRPr lang="en-GB" sz="12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B1585-4EBB-CE30-32FE-FFA9B1095CDF}"/>
              </a:ext>
            </a:extLst>
          </p:cNvPr>
          <p:cNvSpPr txBox="1"/>
          <p:nvPr/>
        </p:nvSpPr>
        <p:spPr>
          <a:xfrm>
            <a:off x="4111310" y="3627049"/>
            <a:ext cx="6282136" cy="27699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2: Define the Agent with the Tool</a:t>
            </a:r>
            <a:endParaRPr lang="en-IN" sz="1200" b="1" dirty="0"/>
          </a:p>
          <a:p>
            <a:endParaRPr lang="en-IN" sz="1200" dirty="0"/>
          </a:p>
          <a:p>
            <a:r>
              <a:rPr lang="en-US" dirty="0" err="1"/>
              <a:t>faq_agent</a:t>
            </a:r>
            <a:r>
              <a:rPr lang="en-US" dirty="0"/>
              <a:t> = Agent(</a:t>
            </a:r>
          </a:p>
          <a:p>
            <a:r>
              <a:rPr lang="en-US" dirty="0"/>
              <a:t>    name="Customer Support Bot",</a:t>
            </a:r>
          </a:p>
          <a:p>
            <a:r>
              <a:rPr lang="en-US" dirty="0"/>
              <a:t>    instructions=(</a:t>
            </a:r>
          </a:p>
          <a:p>
            <a:r>
              <a:rPr lang="en-US" dirty="0"/>
              <a:t>        "You are a helpful customer support assistant. "</a:t>
            </a:r>
          </a:p>
          <a:p>
            <a:r>
              <a:rPr lang="en-US" dirty="0"/>
              <a:t>        "Answer questions using your FAQ tool when appropriate."</a:t>
            </a:r>
          </a:p>
          <a:p>
            <a:r>
              <a:rPr lang="en-US" dirty="0"/>
              <a:t>    ),</a:t>
            </a:r>
          </a:p>
          <a:p>
            <a:r>
              <a:rPr lang="en-US" dirty="0"/>
              <a:t>    </a:t>
            </a:r>
            <a:r>
              <a:rPr lang="en-US" b="1" dirty="0">
                <a:solidFill>
                  <a:srgbClr val="FF0000"/>
                </a:solidFill>
              </a:rPr>
              <a:t>tools</a:t>
            </a:r>
            <a:r>
              <a:rPr lang="en-US" dirty="0"/>
              <a:t>=[</a:t>
            </a:r>
            <a:r>
              <a:rPr lang="en-US" dirty="0" err="1"/>
              <a:t>faq_invoker</a:t>
            </a:r>
            <a:r>
              <a:rPr lang="en-US" dirty="0"/>
              <a:t>]</a:t>
            </a:r>
          </a:p>
          <a:p>
            <a:r>
              <a:rPr lang="en-US" dirty="0"/>
              <a:t>)</a:t>
            </a:r>
            <a:endParaRPr lang="en-US" sz="12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050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774E-EF52-A8EF-EC7D-7D4527CCD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Vectors and Embedding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4F98F4-5D11-231B-2FB5-6B27BB97627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2374" y="1796834"/>
          <a:ext cx="10781427" cy="4782722"/>
        </p:xfrm>
        <a:graphic>
          <a:graphicData uri="http://schemas.openxmlformats.org/drawingml/2006/table">
            <a:tbl>
              <a:tblPr/>
              <a:tblGrid>
                <a:gridCol w="1626374">
                  <a:extLst>
                    <a:ext uri="{9D8B030D-6E8A-4147-A177-3AD203B41FA5}">
                      <a16:colId xmlns:a16="http://schemas.microsoft.com/office/drawing/2014/main" val="557192986"/>
                    </a:ext>
                  </a:extLst>
                </a:gridCol>
                <a:gridCol w="4299774">
                  <a:extLst>
                    <a:ext uri="{9D8B030D-6E8A-4147-A177-3AD203B41FA5}">
                      <a16:colId xmlns:a16="http://schemas.microsoft.com/office/drawing/2014/main" val="1311005330"/>
                    </a:ext>
                  </a:extLst>
                </a:gridCol>
                <a:gridCol w="4855279">
                  <a:extLst>
                    <a:ext uri="{9D8B030D-6E8A-4147-A177-3AD203B41FA5}">
                      <a16:colId xmlns:a16="http://schemas.microsoft.com/office/drawing/2014/main" val="3362915879"/>
                    </a:ext>
                  </a:extLst>
                </a:gridCol>
              </a:tblGrid>
              <a:tr h="220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Concept</a:t>
                      </a:r>
                      <a:endParaRPr lang="en-GB" sz="160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Description</a:t>
                      </a:r>
                      <a:endParaRPr lang="en-GB" sz="160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Example / Analogy</a:t>
                      </a:r>
                      <a:endParaRPr lang="en-GB" sz="160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90375"/>
                  </a:ext>
                </a:extLst>
              </a:tr>
              <a:tr h="550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Vector</a:t>
                      </a:r>
                      <a:endParaRPr lang="en-GB" sz="160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list of numbers that represent something (like a word, sentence, or image) in a mathematical space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Example: “return policy” → [0.12, -0.33, 0.87, …]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149903"/>
                  </a:ext>
                </a:extLst>
              </a:tr>
              <a:tr h="716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Embedding</a:t>
                      </a:r>
                      <a:endParaRPr lang="en-GB" sz="160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The process of </a:t>
                      </a:r>
                      <a:r>
                        <a:rPr lang="en-US" sz="1600" b="1" dirty="0"/>
                        <a:t>converting text (or other data)</a:t>
                      </a:r>
                      <a:r>
                        <a:rPr lang="en-US" sz="1600" dirty="0"/>
                        <a:t> into a high-dimensional </a:t>
                      </a:r>
                      <a:r>
                        <a:rPr lang="en-US" sz="1600" b="1" dirty="0"/>
                        <a:t>vector</a:t>
                      </a:r>
                      <a:r>
                        <a:rPr lang="en-US" sz="1600" dirty="0"/>
                        <a:t> that captures its meaning and relationships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Like mapping words onto coordinates in a “meaning space”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406299"/>
                  </a:ext>
                </a:extLst>
              </a:tr>
              <a:tr h="716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Purpose</a:t>
                      </a:r>
                      <a:endParaRPr lang="en-GB" sz="160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Helps AI measure </a:t>
                      </a:r>
                      <a:r>
                        <a:rPr lang="en-US" sz="1600" b="1" dirty="0"/>
                        <a:t>semantic similarity</a:t>
                      </a:r>
                      <a:r>
                        <a:rPr lang="en-US" sz="1600" dirty="0"/>
                        <a:t> — phrases with similar meaning are closer together in vector space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“Shipping time” and “delivery speed” have vectors close together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119898"/>
                  </a:ext>
                </a:extLst>
              </a:tr>
              <a:tr h="716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How Used</a:t>
                      </a:r>
                      <a:endParaRPr lang="en-GB" sz="16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Semantic search, Recommendation systems, Question–answer matching, Clustering and classification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Search for </a:t>
                      </a:r>
                      <a:r>
                        <a:rPr lang="en-IN" sz="1600" i="1" dirty="0"/>
                        <a:t>refund </a:t>
                      </a:r>
                      <a:r>
                        <a:rPr lang="en-IN" sz="1600" i="0" dirty="0"/>
                        <a:t>when the customer says </a:t>
                      </a:r>
                      <a:r>
                        <a:rPr lang="en-IN" sz="1600" i="1" dirty="0"/>
                        <a:t>return</a:t>
                      </a:r>
                      <a:endParaRPr lang="en-GB" sz="16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63357"/>
                  </a:ext>
                </a:extLst>
              </a:tr>
              <a:tr h="716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Key Idea</a:t>
                      </a:r>
                      <a:endParaRPr lang="en-GB" sz="160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Similar meaning → </a:t>
                      </a:r>
                      <a:r>
                        <a:rPr lang="en-US" sz="1600" b="1" dirty="0"/>
                        <a:t>similar vectors</a:t>
                      </a:r>
                      <a:r>
                        <a:rPr lang="en-US" sz="1600" dirty="0"/>
                        <a:t> (small distance) Different meaning → </a:t>
                      </a:r>
                      <a:r>
                        <a:rPr lang="en-US" sz="1600" b="1" dirty="0"/>
                        <a:t>different vectors</a:t>
                      </a:r>
                      <a:r>
                        <a:rPr lang="en-US" sz="1600" dirty="0"/>
                        <a:t> (large distance)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Visualize as points close or far apart on a map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15502"/>
                  </a:ext>
                </a:extLst>
              </a:tr>
              <a:tr h="716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Generated By</a:t>
                      </a:r>
                      <a:endParaRPr lang="en-GB" sz="160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LLMs or specialized models like </a:t>
                      </a:r>
                      <a:r>
                        <a:rPr lang="en-US" sz="1600" b="1" dirty="0"/>
                        <a:t>text-embedding-3-small / large (OpenAI)</a:t>
                      </a:r>
                      <a:r>
                        <a:rPr lang="en-US" sz="1600" dirty="0"/>
                        <a:t> or </a:t>
                      </a:r>
                      <a:r>
                        <a:rPr lang="en-US" sz="1600" b="1" dirty="0"/>
                        <a:t>e5 / Instructor / MTEB</a:t>
                      </a:r>
                      <a:r>
                        <a:rPr lang="en-US" sz="1600" dirty="0"/>
                        <a:t> models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Used in RAG, chatbots, and knowledge bases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238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556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977F8-752E-3F4A-B59C-633218FC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Vector Embeddings and Semantic Search</a:t>
            </a:r>
            <a:endParaRPr lang="en-GB" dirty="0"/>
          </a:p>
        </p:txBody>
      </p:sp>
      <p:pic>
        <p:nvPicPr>
          <p:cNvPr id="35" name="Content Placeholder 34">
            <a:extLst>
              <a:ext uri="{FF2B5EF4-FFF2-40B4-BE49-F238E27FC236}">
                <a16:creationId xmlns:a16="http://schemas.microsoft.com/office/drawing/2014/main" id="{56B83647-FC61-3BC6-D1B4-323907F14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716365" y="4413602"/>
            <a:ext cx="846322" cy="1024121"/>
          </a:xfrm>
        </p:spPr>
      </p:pic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1B91BE74-7585-0B90-418D-90804E673B85}"/>
              </a:ext>
            </a:extLst>
          </p:cNvPr>
          <p:cNvSpPr/>
          <p:nvPr/>
        </p:nvSpPr>
        <p:spPr>
          <a:xfrm>
            <a:off x="527002" y="4215323"/>
            <a:ext cx="746876" cy="788757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4F0790B5-0301-350C-20AF-D0EB4A2FC583}"/>
              </a:ext>
            </a:extLst>
          </p:cNvPr>
          <p:cNvSpPr/>
          <p:nvPr/>
        </p:nvSpPr>
        <p:spPr>
          <a:xfrm>
            <a:off x="679402" y="4367723"/>
            <a:ext cx="746876" cy="788757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F610827A-DE8E-1933-E3AA-7425AF5E9F62}"/>
              </a:ext>
            </a:extLst>
          </p:cNvPr>
          <p:cNvSpPr/>
          <p:nvPr/>
        </p:nvSpPr>
        <p:spPr>
          <a:xfrm>
            <a:off x="831802" y="4520123"/>
            <a:ext cx="746876" cy="788757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79356709-8D09-696D-DD4A-FA6BED105464}"/>
              </a:ext>
            </a:extLst>
          </p:cNvPr>
          <p:cNvSpPr/>
          <p:nvPr/>
        </p:nvSpPr>
        <p:spPr>
          <a:xfrm>
            <a:off x="984202" y="4672523"/>
            <a:ext cx="746876" cy="788757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22CC8D-E1CB-70AA-C638-B03941132A85}"/>
              </a:ext>
            </a:extLst>
          </p:cNvPr>
          <p:cNvSpPr txBox="1"/>
          <p:nvPr/>
        </p:nvSpPr>
        <p:spPr>
          <a:xfrm>
            <a:off x="397869" y="5468333"/>
            <a:ext cx="1654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Our documents (PDF/Text/JSON/…)</a:t>
            </a:r>
            <a:endParaRPr lang="en-GB" sz="14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0C9082-E883-7E32-CEF3-5DF94250718D}"/>
              </a:ext>
            </a:extLst>
          </p:cNvPr>
          <p:cNvCxnSpPr>
            <a:cxnSpLocks/>
          </p:cNvCxnSpPr>
          <p:nvPr/>
        </p:nvCxnSpPr>
        <p:spPr>
          <a:xfrm>
            <a:off x="1745038" y="5081550"/>
            <a:ext cx="4397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4391463-2372-6C61-4804-664DADDA25D3}"/>
              </a:ext>
            </a:extLst>
          </p:cNvPr>
          <p:cNvSpPr txBox="1"/>
          <p:nvPr/>
        </p:nvSpPr>
        <p:spPr>
          <a:xfrm>
            <a:off x="2194678" y="4806600"/>
            <a:ext cx="918471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Extract content</a:t>
            </a:r>
            <a:endParaRPr lang="en-GB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2C5EA3-A983-F2BB-7094-BCCE5A2EF758}"/>
              </a:ext>
            </a:extLst>
          </p:cNvPr>
          <p:cNvCxnSpPr>
            <a:cxnSpLocks/>
          </p:cNvCxnSpPr>
          <p:nvPr/>
        </p:nvCxnSpPr>
        <p:spPr>
          <a:xfrm>
            <a:off x="3113149" y="5081550"/>
            <a:ext cx="439750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97C7DE4-C332-DB13-ECC5-17150BE30189}"/>
              </a:ext>
            </a:extLst>
          </p:cNvPr>
          <p:cNvSpPr txBox="1"/>
          <p:nvPr/>
        </p:nvSpPr>
        <p:spPr>
          <a:xfrm>
            <a:off x="4029298" y="3781683"/>
            <a:ext cx="918471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Text chunk</a:t>
            </a:r>
            <a:endParaRPr lang="en-GB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13883B-B405-3428-B6A6-330D169DB5C2}"/>
              </a:ext>
            </a:extLst>
          </p:cNvPr>
          <p:cNvSpPr txBox="1"/>
          <p:nvPr/>
        </p:nvSpPr>
        <p:spPr>
          <a:xfrm>
            <a:off x="4029297" y="4348093"/>
            <a:ext cx="918471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Text chunk</a:t>
            </a:r>
            <a:endParaRPr lang="en-GB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C79BA7-2D2F-C947-A251-22834FE03E98}"/>
              </a:ext>
            </a:extLst>
          </p:cNvPr>
          <p:cNvSpPr txBox="1"/>
          <p:nvPr/>
        </p:nvSpPr>
        <p:spPr>
          <a:xfrm>
            <a:off x="4029297" y="4914503"/>
            <a:ext cx="918471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Text chunk</a:t>
            </a:r>
            <a:endParaRPr lang="en-GB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27E421-DEF6-9385-8F70-C4A350EC595B}"/>
              </a:ext>
            </a:extLst>
          </p:cNvPr>
          <p:cNvSpPr txBox="1"/>
          <p:nvPr/>
        </p:nvSpPr>
        <p:spPr>
          <a:xfrm>
            <a:off x="4029296" y="5480913"/>
            <a:ext cx="918471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Text chunk</a:t>
            </a:r>
            <a:endParaRPr lang="en-GB" sz="1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B73C23E-DAEE-DB7B-ECA1-4D27F5086174}"/>
              </a:ext>
            </a:extLst>
          </p:cNvPr>
          <p:cNvCxnSpPr>
            <a:cxnSpLocks/>
          </p:cNvCxnSpPr>
          <p:nvPr/>
        </p:nvCxnSpPr>
        <p:spPr>
          <a:xfrm>
            <a:off x="3552899" y="4041508"/>
            <a:ext cx="0" cy="170664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D5A5FA-B626-7CD0-1321-4A1ADE6E5396}"/>
              </a:ext>
            </a:extLst>
          </p:cNvPr>
          <p:cNvCxnSpPr>
            <a:cxnSpLocks/>
          </p:cNvCxnSpPr>
          <p:nvPr/>
        </p:nvCxnSpPr>
        <p:spPr>
          <a:xfrm>
            <a:off x="3552899" y="4041508"/>
            <a:ext cx="4397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CB390B0-D9A9-E14B-4FA0-008345803387}"/>
              </a:ext>
            </a:extLst>
          </p:cNvPr>
          <p:cNvCxnSpPr>
            <a:cxnSpLocks/>
          </p:cNvCxnSpPr>
          <p:nvPr/>
        </p:nvCxnSpPr>
        <p:spPr>
          <a:xfrm>
            <a:off x="3552899" y="4612717"/>
            <a:ext cx="4397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EFB9CC4-9B25-8AFC-4278-0B5E5F14B835}"/>
              </a:ext>
            </a:extLst>
          </p:cNvPr>
          <p:cNvCxnSpPr>
            <a:cxnSpLocks/>
          </p:cNvCxnSpPr>
          <p:nvPr/>
        </p:nvCxnSpPr>
        <p:spPr>
          <a:xfrm>
            <a:off x="3552899" y="5211846"/>
            <a:ext cx="4397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E14EB5-A1DF-2E79-99D8-198F8A076370}"/>
              </a:ext>
            </a:extLst>
          </p:cNvPr>
          <p:cNvCxnSpPr>
            <a:cxnSpLocks/>
          </p:cNvCxnSpPr>
          <p:nvPr/>
        </p:nvCxnSpPr>
        <p:spPr>
          <a:xfrm>
            <a:off x="3552899" y="5748154"/>
            <a:ext cx="4397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C70F999-F9D9-5EEF-D155-99C64BD49EA6}"/>
              </a:ext>
            </a:extLst>
          </p:cNvPr>
          <p:cNvSpPr txBox="1"/>
          <p:nvPr/>
        </p:nvSpPr>
        <p:spPr>
          <a:xfrm>
            <a:off x="5429984" y="3856678"/>
            <a:ext cx="918471" cy="3077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0100101</a:t>
            </a:r>
            <a:endParaRPr lang="en-GB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526FC4-8B66-F466-08D0-DDCF12C337AF}"/>
              </a:ext>
            </a:extLst>
          </p:cNvPr>
          <p:cNvSpPr txBox="1"/>
          <p:nvPr/>
        </p:nvSpPr>
        <p:spPr>
          <a:xfrm>
            <a:off x="5429983" y="4423088"/>
            <a:ext cx="918471" cy="3077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1101011</a:t>
            </a:r>
            <a:endParaRPr lang="en-GB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7F1B1E-5788-A379-B9E5-34F0D8A1BCF2}"/>
              </a:ext>
            </a:extLst>
          </p:cNvPr>
          <p:cNvSpPr txBox="1"/>
          <p:nvPr/>
        </p:nvSpPr>
        <p:spPr>
          <a:xfrm>
            <a:off x="5429983" y="4989498"/>
            <a:ext cx="918471" cy="3077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0001111</a:t>
            </a:r>
            <a:endParaRPr lang="en-GB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FBEB4F-1AE6-8E51-BA39-687545B388E0}"/>
              </a:ext>
            </a:extLst>
          </p:cNvPr>
          <p:cNvSpPr txBox="1"/>
          <p:nvPr/>
        </p:nvSpPr>
        <p:spPr>
          <a:xfrm>
            <a:off x="5429982" y="5555908"/>
            <a:ext cx="918471" cy="3077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1100110</a:t>
            </a:r>
            <a:endParaRPr lang="en-GB" sz="14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C549259-AAB8-7A5D-6F39-D82D4CCF944A}"/>
              </a:ext>
            </a:extLst>
          </p:cNvPr>
          <p:cNvCxnSpPr>
            <a:cxnSpLocks/>
          </p:cNvCxnSpPr>
          <p:nvPr/>
        </p:nvCxnSpPr>
        <p:spPr>
          <a:xfrm>
            <a:off x="4974525" y="4039723"/>
            <a:ext cx="4397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C9371C4-97B8-F114-5B91-F9CC5CA1D4DC}"/>
              </a:ext>
            </a:extLst>
          </p:cNvPr>
          <p:cNvCxnSpPr>
            <a:cxnSpLocks/>
          </p:cNvCxnSpPr>
          <p:nvPr/>
        </p:nvCxnSpPr>
        <p:spPr>
          <a:xfrm>
            <a:off x="4974525" y="4610932"/>
            <a:ext cx="4397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7CCA96B-08B4-9729-B69A-18D5C1EA37DD}"/>
              </a:ext>
            </a:extLst>
          </p:cNvPr>
          <p:cNvCxnSpPr>
            <a:cxnSpLocks/>
          </p:cNvCxnSpPr>
          <p:nvPr/>
        </p:nvCxnSpPr>
        <p:spPr>
          <a:xfrm>
            <a:off x="4974525" y="5168181"/>
            <a:ext cx="4397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22A1E18-73A0-ACA4-4CB3-9DBF73CCB628}"/>
              </a:ext>
            </a:extLst>
          </p:cNvPr>
          <p:cNvCxnSpPr>
            <a:cxnSpLocks/>
          </p:cNvCxnSpPr>
          <p:nvPr/>
        </p:nvCxnSpPr>
        <p:spPr>
          <a:xfrm>
            <a:off x="4974525" y="5746369"/>
            <a:ext cx="4397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BE89021-2C32-5971-5856-A262CB1F832F}"/>
              </a:ext>
            </a:extLst>
          </p:cNvPr>
          <p:cNvSpPr txBox="1"/>
          <p:nvPr/>
        </p:nvSpPr>
        <p:spPr>
          <a:xfrm>
            <a:off x="5062069" y="3299429"/>
            <a:ext cx="165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Embeddings</a:t>
            </a:r>
            <a:endParaRPr lang="en-GB" sz="14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B1F11DC-E9F0-5434-249D-DCD19DD93348}"/>
              </a:ext>
            </a:extLst>
          </p:cNvPr>
          <p:cNvCxnSpPr>
            <a:cxnSpLocks/>
          </p:cNvCxnSpPr>
          <p:nvPr/>
        </p:nvCxnSpPr>
        <p:spPr>
          <a:xfrm>
            <a:off x="6348453" y="4010566"/>
            <a:ext cx="708481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A3EDBE-7A43-C678-75C7-BAEB79DA8731}"/>
              </a:ext>
            </a:extLst>
          </p:cNvPr>
          <p:cNvCxnSpPr>
            <a:cxnSpLocks/>
          </p:cNvCxnSpPr>
          <p:nvPr/>
        </p:nvCxnSpPr>
        <p:spPr>
          <a:xfrm>
            <a:off x="7048792" y="4003586"/>
            <a:ext cx="0" cy="3973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2B36AE7-C5C1-CAA0-8B04-BB79E8C75CC4}"/>
              </a:ext>
            </a:extLst>
          </p:cNvPr>
          <p:cNvCxnSpPr>
            <a:cxnSpLocks/>
          </p:cNvCxnSpPr>
          <p:nvPr/>
        </p:nvCxnSpPr>
        <p:spPr>
          <a:xfrm>
            <a:off x="6348453" y="4574649"/>
            <a:ext cx="4397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0E41567-5189-8067-5A32-29FFD456DC74}"/>
              </a:ext>
            </a:extLst>
          </p:cNvPr>
          <p:cNvCxnSpPr>
            <a:cxnSpLocks/>
          </p:cNvCxnSpPr>
          <p:nvPr/>
        </p:nvCxnSpPr>
        <p:spPr>
          <a:xfrm>
            <a:off x="6348453" y="5164690"/>
            <a:ext cx="4397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09C0082-C93B-9FE5-4EC2-560AF921B12A}"/>
              </a:ext>
            </a:extLst>
          </p:cNvPr>
          <p:cNvCxnSpPr>
            <a:cxnSpLocks/>
          </p:cNvCxnSpPr>
          <p:nvPr/>
        </p:nvCxnSpPr>
        <p:spPr>
          <a:xfrm>
            <a:off x="6347291" y="5742523"/>
            <a:ext cx="708481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8DEF48C-1607-69AD-CBC4-30F60072F3CA}"/>
              </a:ext>
            </a:extLst>
          </p:cNvPr>
          <p:cNvCxnSpPr>
            <a:cxnSpLocks/>
          </p:cNvCxnSpPr>
          <p:nvPr/>
        </p:nvCxnSpPr>
        <p:spPr>
          <a:xfrm flipV="1">
            <a:off x="7048792" y="5329820"/>
            <a:ext cx="6980" cy="4264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1C7154C-3BD8-30B3-1D1E-C9D6F7022A2A}"/>
              </a:ext>
            </a:extLst>
          </p:cNvPr>
          <p:cNvSpPr txBox="1"/>
          <p:nvPr/>
        </p:nvSpPr>
        <p:spPr>
          <a:xfrm>
            <a:off x="6228624" y="5942898"/>
            <a:ext cx="207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Vector database</a:t>
            </a:r>
          </a:p>
          <a:p>
            <a:pPr algn="ctr"/>
            <a:r>
              <a:rPr lang="en-IN" sz="1400" dirty="0"/>
              <a:t>(Embedding + Text chunk)</a:t>
            </a:r>
            <a:endParaRPr lang="en-GB" sz="14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4FD841F2-9004-1672-1019-8FEE87C6CB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507257" y="1315779"/>
            <a:ext cx="866292" cy="866292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56E19506-8B29-21F1-44F9-C7D9EC64FA2C}"/>
              </a:ext>
            </a:extLst>
          </p:cNvPr>
          <p:cNvSpPr txBox="1"/>
          <p:nvPr/>
        </p:nvSpPr>
        <p:spPr>
          <a:xfrm>
            <a:off x="8803720" y="2274520"/>
            <a:ext cx="918471" cy="3077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Question</a:t>
            </a:r>
            <a:endParaRPr lang="en-GB" sz="14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062DAA1-972D-D291-F711-ABACA5A2CA2C}"/>
              </a:ext>
            </a:extLst>
          </p:cNvPr>
          <p:cNvCxnSpPr>
            <a:cxnSpLocks/>
          </p:cNvCxnSpPr>
          <p:nvPr/>
        </p:nvCxnSpPr>
        <p:spPr>
          <a:xfrm>
            <a:off x="9262955" y="2582297"/>
            <a:ext cx="0" cy="3973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CDB21FD-45C8-8C59-C018-4F6806730BDD}"/>
              </a:ext>
            </a:extLst>
          </p:cNvPr>
          <p:cNvSpPr txBox="1"/>
          <p:nvPr/>
        </p:nvSpPr>
        <p:spPr>
          <a:xfrm>
            <a:off x="8785107" y="2976669"/>
            <a:ext cx="918471" cy="3077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0100101</a:t>
            </a:r>
            <a:endParaRPr lang="en-GB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D0D52E-D5DB-9CDC-5280-7C2E157C0788}"/>
              </a:ext>
            </a:extLst>
          </p:cNvPr>
          <p:cNvSpPr txBox="1"/>
          <p:nvPr/>
        </p:nvSpPr>
        <p:spPr>
          <a:xfrm>
            <a:off x="7369735" y="2956135"/>
            <a:ext cx="165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Embedding</a:t>
            </a:r>
            <a:endParaRPr lang="en-GB" sz="14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1A69F72-8413-DD72-8F5A-2AFFFF024106}"/>
              </a:ext>
            </a:extLst>
          </p:cNvPr>
          <p:cNvCxnSpPr>
            <a:cxnSpLocks/>
          </p:cNvCxnSpPr>
          <p:nvPr/>
        </p:nvCxnSpPr>
        <p:spPr>
          <a:xfrm>
            <a:off x="9262955" y="3299429"/>
            <a:ext cx="0" cy="127522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4D98AAA-3953-F9B4-7031-F7E13B676BD3}"/>
              </a:ext>
            </a:extLst>
          </p:cNvPr>
          <p:cNvSpPr txBox="1"/>
          <p:nvPr/>
        </p:nvSpPr>
        <p:spPr>
          <a:xfrm>
            <a:off x="7435876" y="4226711"/>
            <a:ext cx="1654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Semantic search</a:t>
            </a:r>
            <a:endParaRPr lang="en-GB" sz="1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31647FE-93EA-9CCA-73D5-6365780CF8CC}"/>
              </a:ext>
            </a:extLst>
          </p:cNvPr>
          <p:cNvCxnSpPr>
            <a:cxnSpLocks/>
          </p:cNvCxnSpPr>
          <p:nvPr/>
        </p:nvCxnSpPr>
        <p:spPr>
          <a:xfrm flipH="1">
            <a:off x="7464541" y="4595741"/>
            <a:ext cx="181237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3DE827A-DB48-F136-A344-55D76CBD416E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7464541" y="4989498"/>
            <a:ext cx="2438971" cy="171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2CC0E46-6C9B-1B81-6401-6A39DB568588}"/>
              </a:ext>
            </a:extLst>
          </p:cNvPr>
          <p:cNvSpPr txBox="1"/>
          <p:nvPr/>
        </p:nvSpPr>
        <p:spPr>
          <a:xfrm>
            <a:off x="7462490" y="5099064"/>
            <a:ext cx="1447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Ranked results</a:t>
            </a:r>
            <a:endParaRPr lang="en-GB" sz="1400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4B781403-58AA-510B-0326-AEF6DA493C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3512" y="4615848"/>
            <a:ext cx="918468" cy="781533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FFBD0233-972A-2B8D-E937-3ABF515142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9946" y="5045805"/>
            <a:ext cx="1161478" cy="430948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35681A3F-6CF8-4E56-E5AB-2D4993C6A9F4}"/>
              </a:ext>
            </a:extLst>
          </p:cNvPr>
          <p:cNvSpPr txBox="1"/>
          <p:nvPr/>
        </p:nvSpPr>
        <p:spPr>
          <a:xfrm>
            <a:off x="10060560" y="2274520"/>
            <a:ext cx="918471" cy="3077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Answer</a:t>
            </a:r>
            <a:endParaRPr lang="en-GB" sz="1400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B2F3A32-A3CC-F8D7-FBA7-156917F484C3}"/>
              </a:ext>
            </a:extLst>
          </p:cNvPr>
          <p:cNvCxnSpPr>
            <a:cxnSpLocks/>
          </p:cNvCxnSpPr>
          <p:nvPr/>
        </p:nvCxnSpPr>
        <p:spPr>
          <a:xfrm flipH="1">
            <a:off x="10429660" y="2594573"/>
            <a:ext cx="19486" cy="2027404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958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C9D0F-24A3-F1BC-7BE5-A6654D5E1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Computing Embeddings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64F25-A13E-5DAB-BDE8-9AD96E08A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1DD83-9EC8-103B-9CF7-8CA739C45E54}"/>
              </a:ext>
            </a:extLst>
          </p:cNvPr>
          <p:cNvSpPr txBox="1"/>
          <p:nvPr/>
        </p:nvSpPr>
        <p:spPr>
          <a:xfrm>
            <a:off x="375683" y="1981569"/>
            <a:ext cx="5146158" cy="18466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GB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compute_embedding</a:t>
            </a:r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(text):</a:t>
            </a:r>
          </a:p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response = </a:t>
            </a:r>
            <a:r>
              <a:rPr lang="en-GB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client.embeddings.create</a:t>
            </a:r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</a:p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model="text-embedding-ada-002",</a:t>
            </a:r>
          </a:p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input=text</a:t>
            </a:r>
          </a:p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)</a:t>
            </a:r>
          </a:p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GB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response.data</a:t>
            </a:r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[0].embedding</a:t>
            </a:r>
          </a:p>
          <a:p>
            <a:endParaRPr lang="en-GB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3CB75A-1282-03FD-A523-4D2637CE93B0}"/>
              </a:ext>
            </a:extLst>
          </p:cNvPr>
          <p:cNvSpPr txBox="1"/>
          <p:nvPr/>
        </p:nvSpPr>
        <p:spPr>
          <a:xfrm>
            <a:off x="5762847" y="1981569"/>
            <a:ext cx="5465134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This function takes a text string (like an answer or a query), sends it to the OpenAI embeddings endpoint, and retrieves its vector representation</a:t>
            </a:r>
          </a:p>
          <a:p>
            <a:endParaRPr lang="en-US" dirty="0"/>
          </a:p>
          <a:p>
            <a:r>
              <a:rPr lang="en-US" dirty="0"/>
              <a:t>The model="text-embedding-ada-002" is one of OpenAI’s models optimized for generating embeddings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6C5853-E7B9-1AA8-73ED-1F4F7BA7B3D6}"/>
              </a:ext>
            </a:extLst>
          </p:cNvPr>
          <p:cNvSpPr txBox="1"/>
          <p:nvPr/>
        </p:nvSpPr>
        <p:spPr>
          <a:xfrm>
            <a:off x="322520" y="3963165"/>
            <a:ext cx="5146158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embedding = </a:t>
            </a:r>
            <a:r>
              <a:rPr lang="en-US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compute_embedding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("Our standard shipping time is 3-5 business days.") # Just an example</a:t>
            </a:r>
          </a:p>
          <a:p>
            <a:endParaRPr lang="en-GB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A4C2A-FD26-C484-22B6-D77017AB402E}"/>
              </a:ext>
            </a:extLst>
          </p:cNvPr>
          <p:cNvSpPr txBox="1"/>
          <p:nvPr/>
        </p:nvSpPr>
        <p:spPr>
          <a:xfrm>
            <a:off x="5709684" y="3963165"/>
            <a:ext cx="5465134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This means we are  asking OpenAI’s text-embedding-ada-002 model to convert the sentence:</a:t>
            </a:r>
          </a:p>
          <a:p>
            <a:r>
              <a:rPr lang="en-US" i="1" dirty="0"/>
              <a:t>"Our standard shipping time is 3-5 business days."</a:t>
            </a:r>
          </a:p>
          <a:p>
            <a:r>
              <a:rPr lang="en-US" dirty="0"/>
              <a:t>into a vector of numbers, typically a list of 1536 floating-point values (for this model)</a:t>
            </a:r>
          </a:p>
          <a:p>
            <a:r>
              <a:rPr lang="en-US" dirty="0"/>
              <a:t>Output could be: [0.012345, -0.023456, 0.045678, ...,]</a:t>
            </a:r>
          </a:p>
          <a:p>
            <a:r>
              <a:rPr lang="en-US" dirty="0"/>
              <a:t>It would be 1536 numbers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1400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0560-B776-A7A4-D234-E6E944D0F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4F3C9-CEDF-3399-2337-E6DC3105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Comparing Embeddings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0D18F-4D1F-EE5B-889B-9E6E67641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4FB5D-3CE6-F0E5-E9D2-0C89BF958B7F}"/>
              </a:ext>
            </a:extLst>
          </p:cNvPr>
          <p:cNvSpPr txBox="1"/>
          <p:nvPr/>
        </p:nvSpPr>
        <p:spPr>
          <a:xfrm>
            <a:off x="375683" y="1981569"/>
            <a:ext cx="5146158" cy="18466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GB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cosine_similarity</a:t>
            </a:r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(vec1, vec2):</a:t>
            </a:r>
          </a:p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v1 = </a:t>
            </a:r>
            <a:r>
              <a:rPr lang="en-GB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np.array</a:t>
            </a:r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(vec1)</a:t>
            </a:r>
          </a:p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v2 = </a:t>
            </a:r>
            <a:r>
              <a:rPr lang="en-GB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np.array</a:t>
            </a:r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(vec2)</a:t>
            </a:r>
          </a:p>
          <a:p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np.dot(v1, v2) / (</a:t>
            </a:r>
            <a:r>
              <a:rPr lang="en-GB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np.linalg.norm</a:t>
            </a:r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(v1) * </a:t>
            </a:r>
            <a:r>
              <a:rPr lang="en-GB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np.linalg.norm</a:t>
            </a:r>
            <a:r>
              <a:rPr lang="en-GB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(v2))</a:t>
            </a:r>
          </a:p>
          <a:p>
            <a:endParaRPr lang="en-GB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GB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15DC4-D42D-BD94-376D-652765347741}"/>
              </a:ext>
            </a:extLst>
          </p:cNvPr>
          <p:cNvSpPr txBox="1"/>
          <p:nvPr/>
        </p:nvSpPr>
        <p:spPr>
          <a:xfrm>
            <a:off x="5762847" y="1981569"/>
            <a:ext cx="5465134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This function compares two embeddings (vectors) and computes how similar they are</a:t>
            </a:r>
          </a:p>
          <a:p>
            <a:r>
              <a:rPr lang="en-US" dirty="0"/>
              <a:t>The result is a number between -1 and 1:</a:t>
            </a:r>
          </a:p>
          <a:p>
            <a:r>
              <a:rPr lang="en-US" dirty="0"/>
              <a:t>1 → identical meaning</a:t>
            </a:r>
          </a:p>
          <a:p>
            <a:r>
              <a:rPr lang="en-US" dirty="0"/>
              <a:t>0 → unrelated</a:t>
            </a:r>
          </a:p>
          <a:p>
            <a:r>
              <a:rPr lang="en-US" dirty="0"/>
              <a:t>-1 → opposite meaning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D89B0A-F9F4-BD29-F82B-E297F2281A9B}"/>
              </a:ext>
            </a:extLst>
          </p:cNvPr>
          <p:cNvSpPr txBox="1"/>
          <p:nvPr/>
        </p:nvSpPr>
        <p:spPr>
          <a:xfrm>
            <a:off x="322520" y="3963165"/>
            <a:ext cx="5146158" cy="20621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for </a:t>
            </a:r>
            <a:r>
              <a:rPr lang="en-US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topic_key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, embedding in </a:t>
            </a:r>
            <a:r>
              <a:rPr lang="en-US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embeddings_index.items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():</a:t>
            </a: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        score = </a:t>
            </a:r>
            <a:r>
              <a:rPr lang="en-US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cosine_similarity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query_embedding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, embedding)</a:t>
            </a: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        if score &gt; </a:t>
            </a:r>
            <a:r>
              <a:rPr lang="en-US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best_score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            </a:t>
            </a:r>
            <a:r>
              <a:rPr lang="en-US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best_score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= score</a:t>
            </a: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            </a:t>
            </a:r>
            <a:r>
              <a:rPr lang="en-US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best_topic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en-US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topic_key</a:t>
            </a:r>
            <a:endParaRPr lang="en-GB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7D6C8F-5BEA-454A-E0CA-B029524B88BE}"/>
              </a:ext>
            </a:extLst>
          </p:cNvPr>
          <p:cNvSpPr txBox="1"/>
          <p:nvPr/>
        </p:nvSpPr>
        <p:spPr>
          <a:xfrm>
            <a:off x="5678672" y="4328676"/>
            <a:ext cx="5465134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Compare the query embedding with all stored embeddings</a:t>
            </a:r>
          </a:p>
          <a:p>
            <a:r>
              <a:rPr lang="en-US" dirty="0"/>
              <a:t>Select the topic whose embedding is most similar to the query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3559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B3221-664A-C72A-377D-6297EEDB8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(</a:t>
            </a:r>
            <a:r>
              <a:rPr lang="en-GB" dirty="0"/>
              <a:t>Retrieval-Augmented Generation)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EAD6D24-CFF0-D229-5343-C53CF8F86E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98174"/>
          <a:ext cx="10515600" cy="42062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8765815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262081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610733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444423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System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Description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Strengths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Limitations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338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Large Language Models (LLMs)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Models like </a:t>
                      </a:r>
                      <a:r>
                        <a:rPr lang="en-US" b="1" dirty="0"/>
                        <a:t>GPT</a:t>
                      </a:r>
                      <a:r>
                        <a:rPr lang="en-US" dirty="0"/>
                        <a:t>, trained on vast text corpora to understand and </a:t>
                      </a:r>
                      <a:r>
                        <a:rPr lang="en-US" b="1" dirty="0"/>
                        <a:t>generate </a:t>
                      </a:r>
                      <a:r>
                        <a:rPr lang="en-US" dirty="0"/>
                        <a:t>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Excellent at reasoning and generating fluent text • Understands context and tone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Knowledge is </a:t>
                      </a:r>
                      <a:r>
                        <a:rPr lang="en-US" b="1" dirty="0"/>
                        <a:t>static</a:t>
                      </a:r>
                      <a:r>
                        <a:rPr lang="en-US" dirty="0"/>
                        <a:t> (fixed at training time) 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• Can </a:t>
                      </a:r>
                      <a:r>
                        <a:rPr lang="en-US" b="1" dirty="0"/>
                        <a:t>hallucinate</a:t>
                      </a:r>
                      <a:r>
                        <a:rPr lang="en-US" dirty="0"/>
                        <a:t> or make factual errors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46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Retrieval Systems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Tools like </a:t>
                      </a:r>
                      <a:r>
                        <a:rPr lang="en-US" b="1" dirty="0"/>
                        <a:t>search engines</a:t>
                      </a:r>
                      <a:r>
                        <a:rPr lang="en-US" dirty="0"/>
                        <a:t> that fetch documents or facts from external 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Always up to date 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• Provide </a:t>
                      </a:r>
                      <a:r>
                        <a:rPr lang="en-US" b="1" dirty="0"/>
                        <a:t>accurate factual data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Cannot generate conversational or contextual responses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442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RAG (Retrieval-Augmented Generation)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Combines </a:t>
                      </a:r>
                      <a:r>
                        <a:rPr lang="en-US" b="1" dirty="0"/>
                        <a:t>retrieval + generation</a:t>
                      </a:r>
                      <a:r>
                        <a:rPr lang="en-US" dirty="0"/>
                        <a:t> — fetches relevant documents and uses them to generate grounded responses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</a:t>
                      </a:r>
                      <a:r>
                        <a:rPr lang="en-US" b="1" dirty="0"/>
                        <a:t>Factual + conversational</a:t>
                      </a:r>
                      <a:r>
                        <a:rPr lang="en-US" dirty="0"/>
                        <a:t> • Reduces hallucination 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• Dynamic and updatable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Needs a good retrieval pipeline and embedding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774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966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1F4DC-2491-F410-9C48-3A9840FC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RAG: Core Components</a:t>
            </a:r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44300DD-A19F-BB5C-105D-B38E49346A5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1432" y="1807784"/>
          <a:ext cx="10515600" cy="4351337"/>
        </p:xfrm>
        <a:graphic>
          <a:graphicData uri="http://schemas.openxmlformats.org/drawingml/2006/table">
            <a:tbl>
              <a:tblPr/>
              <a:tblGrid>
                <a:gridCol w="1563554">
                  <a:extLst>
                    <a:ext uri="{9D8B030D-6E8A-4147-A177-3AD203B41FA5}">
                      <a16:colId xmlns:a16="http://schemas.microsoft.com/office/drawing/2014/main" val="2359532609"/>
                    </a:ext>
                  </a:extLst>
                </a:gridCol>
                <a:gridCol w="2642686">
                  <a:extLst>
                    <a:ext uri="{9D8B030D-6E8A-4147-A177-3AD203B41FA5}">
                      <a16:colId xmlns:a16="http://schemas.microsoft.com/office/drawing/2014/main" val="20944592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7108884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910409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08982174"/>
                    </a:ext>
                  </a:extLst>
                </a:gridCol>
              </a:tblGrid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Component</a:t>
                      </a:r>
                      <a:endParaRPr lang="en-GB" sz="16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Function</a:t>
                      </a:r>
                      <a:endParaRPr lang="en-GB" sz="16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Examples / Techniques</a:t>
                      </a:r>
                      <a:endParaRPr lang="en-GB" sz="16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Input</a:t>
                      </a:r>
                      <a:endParaRPr lang="en-GB" sz="16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Output</a:t>
                      </a:r>
                      <a:endParaRPr lang="en-GB" sz="16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19514"/>
                  </a:ext>
                </a:extLst>
              </a:tr>
              <a:tr h="1772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Retriever</a:t>
                      </a:r>
                      <a:endParaRPr lang="en-GB" sz="16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Fetches </a:t>
                      </a:r>
                      <a:r>
                        <a:rPr lang="en-US" sz="1600" b="1" dirty="0"/>
                        <a:t>relevant documents or text passages</a:t>
                      </a:r>
                      <a:r>
                        <a:rPr lang="en-US" sz="1600" dirty="0"/>
                        <a:t> from a large corpus based on the user query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• </a:t>
                      </a:r>
                      <a:r>
                        <a:rPr lang="en-GB" sz="1600" b="1" dirty="0"/>
                        <a:t>BM25</a:t>
                      </a:r>
                      <a:r>
                        <a:rPr lang="en-GB" sz="1600" dirty="0"/>
                        <a:t> (keyword-based) </a:t>
                      </a:r>
                    </a:p>
                    <a:p>
                      <a:pPr>
                        <a:buNone/>
                      </a:pPr>
                      <a:r>
                        <a:rPr lang="en-GB" sz="1600" dirty="0"/>
                        <a:t>• </a:t>
                      </a:r>
                      <a:r>
                        <a:rPr lang="en-GB" sz="1600" b="1" dirty="0"/>
                        <a:t>Dense vector search</a:t>
                      </a:r>
                      <a:r>
                        <a:rPr lang="en-GB" sz="1600" dirty="0"/>
                        <a:t> (FAISS, Elasticsearch) </a:t>
                      </a:r>
                    </a:p>
                    <a:p>
                      <a:pPr>
                        <a:buNone/>
                      </a:pPr>
                      <a:r>
                        <a:rPr lang="en-GB" sz="1600" dirty="0"/>
                        <a:t>• </a:t>
                      </a:r>
                      <a:r>
                        <a:rPr lang="en-GB" sz="1600" b="1" dirty="0"/>
                        <a:t>DPR</a:t>
                      </a:r>
                      <a:r>
                        <a:rPr lang="en-GB" sz="1600" dirty="0"/>
                        <a:t> (Dense Passage Retrieval)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User query or prompt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Top-</a:t>
                      </a:r>
                      <a:r>
                        <a:rPr lang="en-GB" sz="1600" i="1"/>
                        <a:t>k</a:t>
                      </a:r>
                      <a:r>
                        <a:rPr lang="en-GB" sz="1600"/>
                        <a:t> relevant documents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785735"/>
                  </a:ext>
                </a:extLst>
              </a:tr>
              <a:tr h="2014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Generator</a:t>
                      </a:r>
                      <a:endParaRPr lang="en-GB" sz="16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</a:t>
                      </a:r>
                      <a:r>
                        <a:rPr lang="en-US" sz="1600" b="1" dirty="0"/>
                        <a:t>language model</a:t>
                      </a:r>
                      <a:r>
                        <a:rPr lang="en-US" sz="1600" dirty="0"/>
                        <a:t> (e.g., GPT, BART, T5) that takes the </a:t>
                      </a:r>
                      <a:r>
                        <a:rPr lang="en-US" sz="1600" b="1" dirty="0"/>
                        <a:t>query + retrieved documents</a:t>
                      </a:r>
                      <a:r>
                        <a:rPr lang="en-US" sz="1600" dirty="0"/>
                        <a:t> as input and generates a </a:t>
                      </a:r>
                      <a:r>
                        <a:rPr lang="en-US" sz="1600" b="1" dirty="0"/>
                        <a:t>contextually grounded response</a:t>
                      </a:r>
                      <a:endParaRPr lang="en-US" sz="1600" dirty="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• GPT family (OpenAI) • BART, T5 (Google) </a:t>
                      </a:r>
                    </a:p>
                    <a:p>
                      <a:pPr>
                        <a:buNone/>
                      </a:pPr>
                      <a:r>
                        <a:rPr lang="en-GB" sz="1600" dirty="0"/>
                        <a:t>• Claude, Gemini, Mistral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User query + retrieved text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Final, grounded, natural-language response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693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5638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A106-CBAF-A7A1-9AA1-C1FED763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Example – Inputs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1FAF9-1F66-B924-BB31-4312229AF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User’s query and our knowledge base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7C8113-16A3-D35B-9C09-57706E5CEA0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554426"/>
          <a:ext cx="1015534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3125">
                  <a:extLst>
                    <a:ext uri="{9D8B030D-6E8A-4147-A177-3AD203B41FA5}">
                      <a16:colId xmlns:a16="http://schemas.microsoft.com/office/drawing/2014/main" val="2365988646"/>
                    </a:ext>
                  </a:extLst>
                </a:gridCol>
                <a:gridCol w="8362222">
                  <a:extLst>
                    <a:ext uri="{9D8B030D-6E8A-4147-A177-3AD203B41FA5}">
                      <a16:colId xmlns:a16="http://schemas.microsoft.com/office/drawing/2014/main" val="2497761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User Query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“What’s the refund policy for orders placed during Black Friday, and how long does it take to process a refund?”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687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Our Document Corpus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Doc A:</a:t>
                      </a:r>
                      <a:r>
                        <a:rPr lang="en-US" dirty="0"/>
                        <a:t> “Standard refunds processed within 7–10 business days. Black Friday orders may take up to 14 business days due to volume.”</a:t>
                      </a:r>
                    </a:p>
                    <a:p>
                      <a:r>
                        <a:rPr lang="en-US" b="1" dirty="0"/>
                        <a:t>Doc B:</a:t>
                      </a:r>
                      <a:r>
                        <a:rPr lang="en-US" dirty="0"/>
                        <a:t> “Refunds for sale items issued as store credit only, unless otherwise stated.”</a:t>
                      </a:r>
                    </a:p>
                    <a:p>
                      <a:r>
                        <a:rPr lang="en-US" b="1" dirty="0"/>
                        <a:t>Doc C:</a:t>
                      </a:r>
                      <a:r>
                        <a:rPr lang="en-US" dirty="0"/>
                        <a:t> “To request a refund, open a ticket and provide order number. Refunds processed after item return is confirmed.”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837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246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70E6CA-1587-C03E-CB2F-AC0634D332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5245" y="97723"/>
          <a:ext cx="11656855" cy="6566639"/>
        </p:xfrm>
        <a:graphic>
          <a:graphicData uri="http://schemas.openxmlformats.org/drawingml/2006/table">
            <a:tbl>
              <a:tblPr/>
              <a:tblGrid>
                <a:gridCol w="585724">
                  <a:extLst>
                    <a:ext uri="{9D8B030D-6E8A-4147-A177-3AD203B41FA5}">
                      <a16:colId xmlns:a16="http://schemas.microsoft.com/office/drawing/2014/main" val="3856510757"/>
                    </a:ext>
                  </a:extLst>
                </a:gridCol>
                <a:gridCol w="1621228">
                  <a:extLst>
                    <a:ext uri="{9D8B030D-6E8A-4147-A177-3AD203B41FA5}">
                      <a16:colId xmlns:a16="http://schemas.microsoft.com/office/drawing/2014/main" val="3062957704"/>
                    </a:ext>
                  </a:extLst>
                </a:gridCol>
                <a:gridCol w="3221558">
                  <a:extLst>
                    <a:ext uri="{9D8B030D-6E8A-4147-A177-3AD203B41FA5}">
                      <a16:colId xmlns:a16="http://schemas.microsoft.com/office/drawing/2014/main" val="3346583590"/>
                    </a:ext>
                  </a:extLst>
                </a:gridCol>
                <a:gridCol w="3228964">
                  <a:extLst>
                    <a:ext uri="{9D8B030D-6E8A-4147-A177-3AD203B41FA5}">
                      <a16:colId xmlns:a16="http://schemas.microsoft.com/office/drawing/2014/main" val="4062829991"/>
                    </a:ext>
                  </a:extLst>
                </a:gridCol>
                <a:gridCol w="2999381">
                  <a:extLst>
                    <a:ext uri="{9D8B030D-6E8A-4147-A177-3AD203B41FA5}">
                      <a16:colId xmlns:a16="http://schemas.microsoft.com/office/drawing/2014/main" val="3542606598"/>
                    </a:ext>
                  </a:extLst>
                </a:gridCol>
              </a:tblGrid>
              <a:tr h="24443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b="1"/>
                        <a:t>Step</a:t>
                      </a:r>
                      <a:endParaRPr lang="en-GB" sz="14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Action</a:t>
                      </a:r>
                      <a:endParaRPr lang="en-GB" sz="14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Input</a:t>
                      </a:r>
                      <a:endParaRPr lang="en-GB" sz="14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Process</a:t>
                      </a:r>
                      <a:endParaRPr lang="en-GB" sz="14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Output</a:t>
                      </a:r>
                      <a:endParaRPr lang="en-GB" sz="14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653361"/>
                  </a:ext>
                </a:extLst>
              </a:tr>
              <a:tr h="4593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Receive user query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User text (e.g., “Refund policy for Black Friday?”)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Accept &amp; normalize (trim, lowercase if needed)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query</a:t>
                      </a:r>
                      <a:r>
                        <a:rPr lang="en-GB" sz="1400"/>
                        <a:t> string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843658"/>
                  </a:ext>
                </a:extLst>
              </a:tr>
              <a:tr h="62248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/>
                        <a:t>2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Compute query embedding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Courier New" panose="02070309020205020404" pitchFamily="49" charset="0"/>
                        </a:rPr>
                        <a:t>query</a:t>
                      </a:r>
                      <a:endParaRPr lang="en-GB" sz="1400" dirty="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Tokenize → pass to embedding model → vector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query_embedding</a:t>
                      </a:r>
                      <a:r>
                        <a:rPr lang="en-GB" sz="1400"/>
                        <a:t> (vector)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63796"/>
                  </a:ext>
                </a:extLst>
              </a:tr>
              <a:tr h="67418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/>
                        <a:t>3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Search vector store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query_embedding</a:t>
                      </a:r>
                      <a:r>
                        <a:rPr lang="en-US" sz="1400"/>
                        <a:t> + indexed doc vectors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Compute similarity (cosine) → retrieve matching chunks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candidates = [(doc_id, text, score), ...]</a:t>
                      </a:r>
                      <a:endParaRPr lang="en-GB" sz="14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620060"/>
                  </a:ext>
                </a:extLst>
              </a:tr>
              <a:tr h="4593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/>
                        <a:t>4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(Optional) Re-rank and filter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candidates</a:t>
                      </a:r>
                      <a:r>
                        <a:rPr lang="en-GB" sz="1400"/>
                        <a:t> + optional BM25/sparse score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Combine scores, filter low-confidence or stale docs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ranked_docs</a:t>
                      </a:r>
                      <a:endParaRPr lang="en-GB" sz="14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943636"/>
                  </a:ext>
                </a:extLst>
              </a:tr>
              <a:tr h="4593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/>
                        <a:t>5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Select top-k context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ranked_docs</a:t>
                      </a:r>
                      <a:endParaRPr lang="en-GB" sz="14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Choose best K passages, enforce token budget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context_passages</a:t>
                      </a:r>
                      <a:endParaRPr lang="en-GB" sz="14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040182"/>
                  </a:ext>
                </a:extLst>
              </a:tr>
              <a:tr h="8851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/>
                        <a:t>6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Build generator prompt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query</a:t>
                      </a:r>
                      <a:r>
                        <a:rPr lang="en-GB" sz="1400"/>
                        <a:t> + </a:t>
                      </a:r>
                      <a:r>
                        <a:rPr lang="en-GB" sz="1400">
                          <a:latin typeface="Courier New" panose="02070309020205020404" pitchFamily="49" charset="0"/>
                        </a:rPr>
                        <a:t>context_passages</a:t>
                      </a:r>
                      <a:r>
                        <a:rPr lang="en-GB" sz="1400"/>
                        <a:t> + instructions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Create prompt template that instructs LLM to use ONLY provided docs and cite sources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 err="1">
                          <a:latin typeface="Courier New" panose="02070309020205020404" pitchFamily="49" charset="0"/>
                        </a:rPr>
                        <a:t>assembled_prompt</a:t>
                      </a:r>
                      <a:r>
                        <a:rPr lang="en-GB" sz="1400" dirty="0"/>
                        <a:t> (string)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867146"/>
                  </a:ext>
                </a:extLst>
              </a:tr>
              <a:tr h="73989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/>
                        <a:t>7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Call generator (LLM)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assembled_prompt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temperature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max_tokens</a:t>
                      </a:r>
                      <a:endParaRPr lang="en-US" sz="14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LLM generates grounded response (use low temp for facts)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raw_response</a:t>
                      </a:r>
                      <a:r>
                        <a:rPr lang="en-GB" sz="1400"/>
                        <a:t> (text + optional metadata)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43116"/>
                  </a:ext>
                </a:extLst>
              </a:tr>
              <a:tr h="67418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/>
                        <a:t>8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Post-process output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raw_response</a:t>
                      </a:r>
                      <a:endParaRPr lang="en-GB" sz="14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Extract citations, trim, check for hallucination, add confidence or fallback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final_answer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sources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confidence_flag</a:t>
                      </a:r>
                      <a:endParaRPr lang="en-US" sz="14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784154"/>
                  </a:ext>
                </a:extLst>
              </a:tr>
              <a:tr h="67418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/>
                        <a:t>9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Return result to user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final_answer</a:t>
                      </a:r>
                      <a:r>
                        <a:rPr lang="en-GB" sz="1400"/>
                        <a:t>, </a:t>
                      </a:r>
                      <a:r>
                        <a:rPr lang="en-GB" sz="1400">
                          <a:latin typeface="Courier New" panose="02070309020205020404" pitchFamily="49" charset="0"/>
                        </a:rPr>
                        <a:t>sources</a:t>
                      </a:r>
                      <a:endParaRPr lang="en-GB" sz="14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Format for UI (text, bullets, source links) and send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Shown reply + sources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545290"/>
                  </a:ext>
                </a:extLst>
              </a:tr>
              <a:tr h="67418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Logging, feedback and index update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Query, chosen docs, user feedback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Log for evaluation, optionally re-index corrected docs or update embeddings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Improved retrieval &amp; audit trail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544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782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4EBF-00AF-8F2E-2386-A3F9AC4C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Service Agent (2_10_openai_agent_memory.py)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1962B-6D8B-F264-60B3-3A08EF258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Read </a:t>
            </a:r>
            <a:r>
              <a:rPr lang="en-IN" dirty="0">
                <a:hlinkClick r:id="rId2"/>
              </a:rPr>
              <a:t>https://www.kaggle.com/datasets/kreeshrajani/3k-conversations-dataset-for-chatbot</a:t>
            </a:r>
            <a:r>
              <a:rPr lang="en-IN" dirty="0"/>
              <a:t> to preload data</a:t>
            </a:r>
          </a:p>
          <a:p>
            <a:r>
              <a:rPr lang="en-IN" dirty="0"/>
              <a:t>Add this to an </a:t>
            </a:r>
            <a:r>
              <a:rPr lang="en-IN" dirty="0" err="1"/>
              <a:t>Sqllite</a:t>
            </a:r>
            <a:r>
              <a:rPr lang="en-IN" dirty="0"/>
              <a:t> database</a:t>
            </a:r>
          </a:p>
          <a:p>
            <a:r>
              <a:rPr lang="en-IN" dirty="0"/>
              <a:t>Simultaneously load the first 500 entries in a local memory LRU cache</a:t>
            </a:r>
          </a:p>
          <a:p>
            <a:r>
              <a:rPr lang="en-IN" dirty="0"/>
              <a:t>When the user sends question to the agent</a:t>
            </a:r>
          </a:p>
          <a:p>
            <a:pPr lvl="1"/>
            <a:r>
              <a:rPr lang="en-IN" dirty="0"/>
              <a:t>First search in the local cache (Short Term Memory)</a:t>
            </a:r>
          </a:p>
          <a:p>
            <a:pPr lvl="1"/>
            <a:r>
              <a:rPr lang="en-IN" dirty="0"/>
              <a:t>If not found, search in the </a:t>
            </a:r>
            <a:r>
              <a:rPr lang="en-IN" dirty="0" err="1"/>
              <a:t>Sqlite</a:t>
            </a:r>
            <a:r>
              <a:rPr lang="en-IN" dirty="0"/>
              <a:t> database (Long Term Memory)</a:t>
            </a:r>
          </a:p>
          <a:p>
            <a:pPr lvl="1"/>
            <a:r>
              <a:rPr lang="en-IN" dirty="0"/>
              <a:t>If found, add the question and answer from Long Term Memory to Short Term Memory</a:t>
            </a:r>
          </a:p>
          <a:p>
            <a:pPr lvl="1"/>
            <a:r>
              <a:rPr lang="en-IN" dirty="0"/>
              <a:t>If not found there also, return an apologetic message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0885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7602A-CE57-569E-2E71-8F9B2296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Handoffs</a:t>
            </a:r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AF710C5-016C-D62F-6E07-667919BA60F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3510" y="1795022"/>
          <a:ext cx="11091462" cy="4951768"/>
        </p:xfrm>
        <a:graphic>
          <a:graphicData uri="http://schemas.openxmlformats.org/drawingml/2006/table">
            <a:tbl>
              <a:tblPr/>
              <a:tblGrid>
                <a:gridCol w="1926524">
                  <a:extLst>
                    <a:ext uri="{9D8B030D-6E8A-4147-A177-3AD203B41FA5}">
                      <a16:colId xmlns:a16="http://schemas.microsoft.com/office/drawing/2014/main" val="2968606842"/>
                    </a:ext>
                  </a:extLst>
                </a:gridCol>
                <a:gridCol w="4613881">
                  <a:extLst>
                    <a:ext uri="{9D8B030D-6E8A-4147-A177-3AD203B41FA5}">
                      <a16:colId xmlns:a16="http://schemas.microsoft.com/office/drawing/2014/main" val="3936321401"/>
                    </a:ext>
                  </a:extLst>
                </a:gridCol>
                <a:gridCol w="4551057">
                  <a:extLst>
                    <a:ext uri="{9D8B030D-6E8A-4147-A177-3AD203B41FA5}">
                      <a16:colId xmlns:a16="http://schemas.microsoft.com/office/drawing/2014/main" val="486928094"/>
                    </a:ext>
                  </a:extLst>
                </a:gridCol>
              </a:tblGrid>
              <a:tr h="200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Aspect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Description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Example / Notes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007512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Definition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Allows an agent to delegate tasks to another specialized agent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One agent passes control to another based on context or expertise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098015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Purpose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Useful when multiple agents handle distinct areas or specialized tasks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E.g., separating “Order Status,” “Refund,” and “FAQ” handling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34009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Typical Use Case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Customer support system where queries are routed to the correct expert agent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“Refund Agent” for refund issues, “Order Agent” for order status, </a:t>
                      </a:r>
                      <a:r>
                        <a:rPr lang="en-US" sz="1600" dirty="0" err="1"/>
                        <a:t>etc</a:t>
                      </a:r>
                      <a:endParaRPr lang="en-US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608973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Underlying Mechanism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</a:t>
                      </a:r>
                      <a:r>
                        <a:rPr lang="en-US" sz="1600" i="1" dirty="0"/>
                        <a:t>handoff</a:t>
                      </a:r>
                      <a:r>
                        <a:rPr lang="en-US" sz="1600" dirty="0"/>
                        <a:t> triggers a call to the corresponding function (e.g.,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transfer_to_refund_agent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Enables seamless task transfer between agents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975619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SDK Representation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Implemented via the </a:t>
                      </a:r>
                      <a:r>
                        <a:rPr lang="en-US" sz="1600" b="1" dirty="0">
                          <a:latin typeface="Courier New" panose="02070309020205020404" pitchFamily="49" charset="0"/>
                        </a:rPr>
                        <a:t>handoff</a:t>
                      </a:r>
                      <a:r>
                        <a:rPr lang="en-US" sz="1600" b="1" dirty="0"/>
                        <a:t> parameter</a:t>
                      </a:r>
                      <a:r>
                        <a:rPr lang="en-US" sz="1600" dirty="0"/>
                        <a:t> or a </a:t>
                      </a:r>
                      <a:r>
                        <a:rPr lang="en-US" sz="1600" b="1" dirty="0">
                          <a:latin typeface="Courier New" panose="02070309020205020404" pitchFamily="49" charset="0"/>
                        </a:rPr>
                        <a:t>Handoff</a:t>
                      </a:r>
                      <a:r>
                        <a:rPr lang="en-US" sz="1600" b="1" dirty="0"/>
                        <a:t> object</a:t>
                      </a:r>
                      <a:r>
                        <a:rPr lang="en-US" sz="1600" dirty="0"/>
                        <a:t> in an agent definition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Agents define how and when they perform handoffs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096898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Creation Method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Created using the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handoff()</a:t>
                      </a:r>
                      <a:r>
                        <a:rPr lang="en-US" sz="1600" dirty="0"/>
                        <a:t> function provided by the Agents SDK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Example: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refund_handoff = handoff(to="RefundAgent")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902431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Customization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The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Handoff</a:t>
                      </a:r>
                      <a:r>
                        <a:rPr lang="en-US" sz="1600" dirty="0"/>
                        <a:t> object can include metadata or conditions controlling when to perform the handoff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E.g.,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handoff(condition="refund_request_detected")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59936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Result of Handoff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The system calls a specific tool/function to execute the transfer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transfer_to_refund_agent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600" dirty="0"/>
                        <a:t> is invoked automatically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637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796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65D0-0B74-B531-4FE9-2BEBF902C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Handoffs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07B86-2360-2295-A889-A8C5ED207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agents import Agent, handoff</a:t>
            </a:r>
          </a:p>
          <a:p>
            <a:endParaRPr lang="en-US" dirty="0"/>
          </a:p>
          <a:p>
            <a:r>
              <a:rPr lang="en-US" dirty="0" err="1"/>
              <a:t>billing_agent</a:t>
            </a:r>
            <a:r>
              <a:rPr lang="en-US" dirty="0"/>
              <a:t> = Agent(name="Billing agent")</a:t>
            </a:r>
          </a:p>
          <a:p>
            <a:r>
              <a:rPr lang="en-US" dirty="0" err="1"/>
              <a:t>refund_agent</a:t>
            </a:r>
            <a:r>
              <a:rPr lang="en-US" dirty="0"/>
              <a:t> = Agent(name="Refund agent")</a:t>
            </a:r>
          </a:p>
          <a:p>
            <a:endParaRPr lang="en-US" dirty="0"/>
          </a:p>
          <a:p>
            <a:r>
              <a:rPr lang="en-US" dirty="0" err="1"/>
              <a:t>triage_agent</a:t>
            </a:r>
            <a:r>
              <a:rPr lang="en-US" dirty="0"/>
              <a:t> = Agent(name="Triage agent", handoffs=[</a:t>
            </a:r>
            <a:r>
              <a:rPr lang="en-US" dirty="0" err="1"/>
              <a:t>billing_agent</a:t>
            </a:r>
            <a:r>
              <a:rPr lang="en-US" dirty="0"/>
              <a:t>, handoff(</a:t>
            </a:r>
            <a:r>
              <a:rPr lang="en-US" dirty="0" err="1"/>
              <a:t>refund_agent</a:t>
            </a:r>
            <a:r>
              <a:rPr lang="en-US" dirty="0"/>
              <a:t>)])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7166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E3E2-60ED-D112-1C41-4C4EA337B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Handoff Example – First Vectorize Customer Service Data (Run this code: </a:t>
            </a:r>
            <a:r>
              <a:rPr lang="en-US" sz="3200" dirty="0"/>
              <a:t>2_openai_agent_customer_embeddings_creation.py)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53AA6-9279-8B88-127A-82533EDE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Dataset link: </a:t>
            </a:r>
            <a:r>
              <a:rPr lang="en-IN" dirty="0">
                <a:hlinkClick r:id="rId2"/>
              </a:rPr>
              <a:t>https://www.kaggle.com/datasets/bitext/training-dataset-for-chatbotsvirtual-assistants</a:t>
            </a:r>
            <a:endParaRPr lang="en-IN" dirty="0"/>
          </a:p>
          <a:p>
            <a:r>
              <a:rPr lang="en-IN" dirty="0"/>
              <a:t>Within this, dataset 20000-Utterances-Training-dataset-for-chatbots-virtual-assistant-Bitext-sample.csv</a:t>
            </a:r>
          </a:p>
          <a:p>
            <a:r>
              <a:rPr lang="en-IN" dirty="0"/>
              <a:t>Create embeddings using Hugging Face Sentence Transformer (</a:t>
            </a:r>
          </a:p>
          <a:p>
            <a:pPr marL="0" indent="0">
              <a:buNone/>
            </a:pPr>
            <a:endParaRPr lang="en-US" sz="23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23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utterance_embeddings</a:t>
            </a:r>
            <a:r>
              <a:rPr lang="en-US" sz="23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3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model.encode</a:t>
            </a:r>
            <a:r>
              <a:rPr lang="en-US" sz="23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 # Tokenize each sentence into words</a:t>
            </a:r>
          </a:p>
          <a:p>
            <a:pPr marL="0" indent="0">
              <a:buNone/>
            </a:pPr>
            <a:r>
              <a:rPr lang="en-US" sz="23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utterances, # List of strings to embed (after tokenization above)</a:t>
            </a:r>
          </a:p>
          <a:p>
            <a:pPr marL="0" indent="0">
              <a:buNone/>
            </a:pPr>
            <a:r>
              <a:rPr lang="en-US" sz="23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3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convert_to_numpy</a:t>
            </a:r>
            <a:r>
              <a:rPr lang="en-US" sz="23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=True, # Return embeddings as a </a:t>
            </a:r>
            <a:r>
              <a:rPr lang="en-US" sz="23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numpy</a:t>
            </a:r>
            <a:r>
              <a:rPr lang="en-US" sz="23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array instead of </a:t>
            </a:r>
            <a:r>
              <a:rPr lang="en-US" sz="23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PyTorch</a:t>
            </a:r>
            <a:r>
              <a:rPr lang="en-US" sz="23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tensor to make it faster</a:t>
            </a:r>
          </a:p>
          <a:p>
            <a:pPr marL="0" indent="0">
              <a:buNone/>
            </a:pPr>
            <a:r>
              <a:rPr lang="en-US" sz="23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3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show_progress_bar</a:t>
            </a:r>
            <a:r>
              <a:rPr lang="en-US" sz="23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=True # Display progress bar when doing the above</a:t>
            </a:r>
          </a:p>
          <a:p>
            <a:pPr marL="0" indent="0">
              <a:buNone/>
            </a:pPr>
            <a:r>
              <a:rPr lang="en-US" sz="23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)</a:t>
            </a:r>
            <a:endParaRPr lang="en-US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Result: Each sentence will produce an embedding of 384 dimensions, so </a:t>
            </a:r>
            <a:r>
              <a:rPr lang="en-US" dirty="0" err="1"/>
              <a:t>utterance_embeddings</a:t>
            </a:r>
            <a:r>
              <a:rPr lang="en-US" dirty="0"/>
              <a:t> will be a </a:t>
            </a:r>
            <a:r>
              <a:rPr lang="en-US" dirty="0" err="1"/>
              <a:t>numpy</a:t>
            </a:r>
            <a:r>
              <a:rPr lang="en-US" dirty="0"/>
              <a:t> array of size 21,534 (Number of records) x 384</a:t>
            </a:r>
          </a:p>
          <a:p>
            <a:r>
              <a:rPr lang="en-US" dirty="0"/>
              <a:t>Files: .</a:t>
            </a:r>
            <a:r>
              <a:rPr lang="en-US" dirty="0" err="1"/>
              <a:t>npy</a:t>
            </a:r>
            <a:r>
              <a:rPr lang="en-US" dirty="0"/>
              <a:t> stores the embeddings, .</a:t>
            </a:r>
            <a:r>
              <a:rPr lang="en-US" dirty="0" err="1"/>
              <a:t>pkl</a:t>
            </a:r>
            <a:r>
              <a:rPr lang="en-US" dirty="0"/>
              <a:t> file contains the original data as dictionary: utterance -&gt; intent-&gt;categories (e.g. “I want a refund” -&gt; “</a:t>
            </a:r>
            <a:r>
              <a:rPr lang="en-US" dirty="0" err="1"/>
              <a:t>get_refund</a:t>
            </a:r>
            <a:r>
              <a:rPr lang="en-US" dirty="0"/>
              <a:t>” -&gt; “REFUNDS”)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5766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3866</Words>
  <Application>Microsoft Office PowerPoint</Application>
  <PresentationFormat>Widescreen</PresentationFormat>
  <Paragraphs>522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Cascadia Code</vt:lpstr>
      <vt:lpstr>Cascadia Mono</vt:lpstr>
      <vt:lpstr>Courier New</vt:lpstr>
      <vt:lpstr>Office Theme</vt:lpstr>
      <vt:lpstr>2) OpenAI Agents API</vt:lpstr>
      <vt:lpstr>Agents API</vt:lpstr>
      <vt:lpstr>Agents API Basics</vt:lpstr>
      <vt:lpstr>OpenAI Agents SDK</vt:lpstr>
      <vt:lpstr>Agents API: Sync or Async?</vt:lpstr>
      <vt:lpstr>Sync versus Async: Sample Code</vt:lpstr>
      <vt:lpstr>First Agent SDK Example (Sync Approach)</vt:lpstr>
      <vt:lpstr>asyncio in Python</vt:lpstr>
      <vt:lpstr>asyncio Code Example</vt:lpstr>
      <vt:lpstr>Sync Versus Async Processing in Agents</vt:lpstr>
      <vt:lpstr>PowerPoint Presentation</vt:lpstr>
      <vt:lpstr>Function (Tool) Calling Workflow</vt:lpstr>
      <vt:lpstr>Tool Workflow</vt:lpstr>
      <vt:lpstr>Function (Tool) Calling</vt:lpstr>
      <vt:lpstr>Vectors and Embedding</vt:lpstr>
      <vt:lpstr>Vector Embeddings and Semantic Search</vt:lpstr>
      <vt:lpstr>Computing Embeddings</vt:lpstr>
      <vt:lpstr>Comparing Embeddings</vt:lpstr>
      <vt:lpstr>RAG (Retrieval-Augmented Generation)</vt:lpstr>
      <vt:lpstr>RAG: Core Components</vt:lpstr>
      <vt:lpstr>RAG Example – Inputs</vt:lpstr>
      <vt:lpstr>PowerPoint Presentation</vt:lpstr>
      <vt:lpstr>Customer Service Agent (2_10_openai_agent_memory.py)</vt:lpstr>
      <vt:lpstr>Handoffs</vt:lpstr>
      <vt:lpstr>Simple Handoffs Example</vt:lpstr>
      <vt:lpstr>Handoff Example – First Vectorize Customer Service Data (Run this code: 2_openai_agent_customer_embeddings_creation.py)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4</cp:revision>
  <dcterms:created xsi:type="dcterms:W3CDTF">2025-09-25T12:33:45Z</dcterms:created>
  <dcterms:modified xsi:type="dcterms:W3CDTF">2025-11-08T01:25:38Z</dcterms:modified>
</cp:coreProperties>
</file>